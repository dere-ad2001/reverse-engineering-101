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29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96596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F2F2F2"/>
                </a:solidFill>
                <a:latin typeface="Calibri"/>
              </a:rPr>
              <a:t>Reverse Engineering 101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14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Presented by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348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2F2F2"/>
                </a:solidFill>
                <a:latin typeface="Calibri"/>
              </a:rPr>
              <a:t>Ajin Deepak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937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A23A"/>
                </a:solidFill>
                <a:latin typeface="Calibri"/>
              </a:rPr>
              <a:t>AntiBot Engineer  @  NielsenIQ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1400" dirty="0">
                <a:solidFill>
                  <a:srgbClr val="B0B0B0"/>
                </a:solidFill>
                <a:latin typeface="Calibri"/>
              </a:rPr>
              <a:t>Minimal AI slop is there please bear with me.</a:t>
            </a:r>
            <a:endParaRPr sz="1400" b="0" dirty="0">
              <a:solidFill>
                <a:srgbClr val="B0B0B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What we're doing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544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00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F2F2F2"/>
                </a:solidFill>
                <a:latin typeface="Calibri"/>
              </a:rPr>
              <a:t>What RE is, why people do it, where it's used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06039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551175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400" b="0" dirty="0">
                <a:solidFill>
                  <a:srgbClr val="F2F2F2"/>
                </a:solidFill>
                <a:latin typeface="Calibri"/>
              </a:rPr>
              <a:t>Some assembly</a:t>
            </a:r>
            <a:endParaRPr sz="24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365760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2559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400" b="0" dirty="0">
                <a:solidFill>
                  <a:srgbClr val="F2F2F2"/>
                </a:solidFill>
                <a:latin typeface="Calibri"/>
              </a:rPr>
              <a:t>Some tools</a:t>
            </a:r>
            <a:endParaRPr sz="24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02920" y="4709159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754879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400" b="0" dirty="0">
                <a:solidFill>
                  <a:srgbClr val="F2F2F2"/>
                </a:solidFill>
                <a:latin typeface="Calibri"/>
              </a:rPr>
              <a:t>And do some </a:t>
            </a:r>
            <a:r>
              <a:rPr lang="en-IN" sz="2400" b="0" dirty="0" err="1">
                <a:solidFill>
                  <a:srgbClr val="F2F2F2"/>
                </a:solidFill>
                <a:latin typeface="Calibri"/>
              </a:rPr>
              <a:t>execercises</a:t>
            </a:r>
            <a:r>
              <a:rPr lang="en-IN" sz="2400" dirty="0">
                <a:solidFill>
                  <a:srgbClr val="F2F2F2"/>
                </a:solidFill>
                <a:latin typeface="Calibri"/>
              </a:rPr>
              <a:t>, that’s it.</a:t>
            </a:r>
            <a:endParaRPr sz="24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What is reverse engineering?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Looking at a finished program and figuring out how it works, without the original source.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60320"/>
            <a:ext cx="10972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dirty="0">
                <a:solidFill>
                  <a:srgbClr val="F2F2F2"/>
                </a:solidFill>
                <a:latin typeface="Calibri"/>
              </a:rPr>
              <a:t>-  run it, </a:t>
            </a:r>
            <a:r>
              <a:rPr lang="en-IN" sz="2200" dirty="0">
                <a:solidFill>
                  <a:srgbClr val="F2F2F2"/>
                </a:solidFill>
                <a:latin typeface="Calibri"/>
              </a:rPr>
              <a:t> observe the behaviour</a:t>
            </a:r>
            <a:endParaRPr sz="22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3291839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dirty="0">
                <a:solidFill>
                  <a:srgbClr val="F2F2F2"/>
                </a:solidFill>
                <a:latin typeface="Calibri"/>
              </a:rPr>
              <a:t>-  check strings and imports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233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dirty="0">
                <a:solidFill>
                  <a:srgbClr val="F2F2F2"/>
                </a:solidFill>
                <a:latin typeface="Calibri"/>
              </a:rPr>
              <a:t>-  read the assembly, or the </a:t>
            </a:r>
            <a:r>
              <a:rPr sz="2200" b="0" dirty="0" err="1">
                <a:solidFill>
                  <a:srgbClr val="F2F2F2"/>
                </a:solidFill>
                <a:latin typeface="Calibri"/>
              </a:rPr>
              <a:t>decompiler</a:t>
            </a:r>
            <a:r>
              <a:rPr sz="2200" b="0" dirty="0">
                <a:solidFill>
                  <a:srgbClr val="F2F2F2"/>
                </a:solidFill>
                <a:latin typeface="Calibri"/>
              </a:rPr>
              <a:t> 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548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dirty="0">
                <a:solidFill>
                  <a:srgbClr val="F2F2F2"/>
                </a:solidFill>
                <a:latin typeface="Calibri"/>
              </a:rPr>
              <a:t>-  debug it and watch the compare that decides pass/fail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Why reverse engineering?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You are lifeless, or you think you wanna be cool by cracking some crappy apps,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or you wanna build some skills to get employed,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34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or it's part of your job to upskill,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20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or you are just interested.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4892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Idk which one.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Where reverse engineering is used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11247120" cy="146304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Malware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10789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F2F2F2"/>
                </a:solidFill>
                <a:latin typeface="Calibri"/>
              </a:rPr>
              <a:t>You get a sample with </a:t>
            </a:r>
            <a:r>
              <a:rPr lang="en-IN" dirty="0">
                <a:solidFill>
                  <a:srgbClr val="F2F2F2"/>
                </a:solidFill>
                <a:latin typeface="Calibri"/>
              </a:rPr>
              <a:t>malware sample</a:t>
            </a:r>
            <a:r>
              <a:rPr sz="1800" b="0" dirty="0">
                <a:solidFill>
                  <a:srgbClr val="F2F2F2"/>
                </a:solidFill>
                <a:latin typeface="Calibri"/>
              </a:rPr>
              <a:t>. </a:t>
            </a:r>
            <a:r>
              <a:rPr lang="en-IN" sz="1800" b="0" dirty="0">
                <a:solidFill>
                  <a:srgbClr val="F2F2F2"/>
                </a:solidFill>
                <a:latin typeface="Calibri"/>
              </a:rPr>
              <a:t>You </a:t>
            </a:r>
            <a:r>
              <a:rPr lang="en-IN" sz="1800" b="0" dirty="0" err="1">
                <a:solidFill>
                  <a:srgbClr val="F2F2F2"/>
                </a:solidFill>
                <a:latin typeface="Calibri"/>
              </a:rPr>
              <a:t>analyze</a:t>
            </a:r>
            <a:r>
              <a:rPr lang="en-IN" sz="1800" b="0" dirty="0">
                <a:solidFill>
                  <a:srgbClr val="F2F2F2"/>
                </a:solidFill>
                <a:latin typeface="Calibri"/>
              </a:rPr>
              <a:t> it.</a:t>
            </a:r>
            <a:endParaRPr sz="18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7200" y="2880360"/>
            <a:ext cx="11247120" cy="146304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30632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Appsec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20440"/>
            <a:ext cx="10789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F2F2F2"/>
                </a:solidFill>
                <a:latin typeface="Calibri"/>
              </a:rPr>
              <a:t>You are looking at a released binary</a:t>
            </a:r>
            <a:r>
              <a:rPr lang="en-IN" sz="1800" b="0" dirty="0">
                <a:solidFill>
                  <a:srgbClr val="F2F2F2"/>
                </a:solidFill>
                <a:latin typeface="Calibri"/>
              </a:rPr>
              <a:t> like for example, an APK. And you </a:t>
            </a:r>
            <a:r>
              <a:rPr lang="en-IN" sz="1800" b="0" dirty="0" err="1">
                <a:solidFill>
                  <a:srgbClr val="F2F2F2"/>
                </a:solidFill>
                <a:latin typeface="Calibri"/>
              </a:rPr>
              <a:t>wann</a:t>
            </a:r>
            <a:r>
              <a:rPr lang="en-IN" dirty="0" err="1">
                <a:solidFill>
                  <a:srgbClr val="F2F2F2"/>
                </a:solidFill>
                <a:latin typeface="Calibri"/>
              </a:rPr>
              <a:t>a</a:t>
            </a:r>
            <a:r>
              <a:rPr lang="en-IN" dirty="0">
                <a:solidFill>
                  <a:srgbClr val="F2F2F2"/>
                </a:solidFill>
                <a:latin typeface="Calibri"/>
              </a:rPr>
              <a:t> find bugs.</a:t>
            </a:r>
            <a:endParaRPr sz="18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7200" y="4526280"/>
            <a:ext cx="11247120" cy="146304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7091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Exploit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166360"/>
            <a:ext cx="10789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dirty="0">
                <a:solidFill>
                  <a:srgbClr val="F2F2F2"/>
                </a:solidFill>
                <a:latin typeface="Calibri"/>
              </a:rPr>
              <a:t>You </a:t>
            </a:r>
            <a:r>
              <a:rPr lang="en-IN" dirty="0" err="1">
                <a:solidFill>
                  <a:srgbClr val="F2F2F2"/>
                </a:solidFill>
                <a:latin typeface="Calibri"/>
              </a:rPr>
              <a:t>wanna</a:t>
            </a:r>
            <a:r>
              <a:rPr lang="en-IN" dirty="0">
                <a:solidFill>
                  <a:srgbClr val="F2F2F2"/>
                </a:solidFill>
                <a:latin typeface="Calibri"/>
              </a:rPr>
              <a:t> do some Vulnerability research and make exploits (Ask AI gang)</a:t>
            </a:r>
            <a:endParaRPr sz="18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Compiler, disassembler, decompiler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0B0B0"/>
                </a:solidFill>
                <a:latin typeface="Calibri"/>
              </a:rPr>
              <a:t>These are not the same thing.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508760"/>
            <a:ext cx="3749039" cy="4800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Compiler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488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alibri"/>
              </a:rPr>
              <a:t>gcc, clang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651760"/>
            <a:ext cx="33832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Source -&gt; binary.
C/C++ becomes machine code + ELF headers.
This is how the file was made.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508760"/>
            <a:ext cx="3749039" cy="4800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80560" y="16916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Disassembler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1488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alibri"/>
              </a:rPr>
              <a:t>objdump, Ghidra listing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651760"/>
            <a:ext cx="33832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Bytes -&gt; assembly.
B8 01 00 00 00  -&gt;  mov eax, 1
Matches the bytes one-to-one.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83879" y="1508760"/>
            <a:ext cx="3749039" cy="4800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59" y="16916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Decompiler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59" y="21488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alibri"/>
              </a:rPr>
              <a:t>Ghidra / IDA / Binary Ninja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59" y="2651760"/>
            <a:ext cx="33832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Assembly -&gt; C-like code.
if (x == 1) ...
Helpful, but it is a reconstruction. Names are usually gone.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Compile -&gt; bytes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0B0B0"/>
                </a:solidFill>
                <a:latin typeface="Calibri"/>
              </a:rPr>
              <a:t>C is for humans. The CPU runs bytes.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737360"/>
            <a:ext cx="2788920" cy="41605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76072" y="19202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1 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" y="274320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7CDA6A"/>
                </a:solidFill>
                <a:latin typeface="Consolas"/>
              </a:rPr>
              <a:t>int main() { return 1;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429768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What you write.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737360"/>
            <a:ext cx="2788920" cy="41605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02152" y="19202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2  Compiler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2152" y="274320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7CDA6A"/>
                </a:solidFill>
                <a:latin typeface="Consolas"/>
              </a:rPr>
              <a:t>gcc -m32  -&gt;  ELF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2152" y="429768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Builds the binary.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737360"/>
            <a:ext cx="2788920" cy="41605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28232" y="19202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3  Bytes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74320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7CDA6A"/>
                </a:solidFill>
                <a:latin typeface="Consolas"/>
              </a:rPr>
              <a:t>B8 01 00 00 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429768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Machine code in .text.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89720" y="1737360"/>
            <a:ext cx="2788920" cy="41605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54312" y="19202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4  CPU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54312" y="274320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7CDA6A"/>
                </a:solidFill>
                <a:latin typeface="Consolas"/>
              </a:rPr>
              <a:t>reads those bytes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54312" y="429768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Decodes and runs them.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How a disassembler reads those bytes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0B0B0"/>
                </a:solidFill>
                <a:latin typeface="Calibri"/>
              </a:rPr>
              <a:t>objdump / Ghidra / IDA / Binary Ninja all start by turning bytes into instructions.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11247120" cy="155448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CDA6A"/>
                </a:solidFill>
                <a:latin typeface="Consolas"/>
              </a:rPr>
              <a:t>B8 01 00 00 00     -&gt;     mov eax,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4028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B8 = MOV EAX, imm32. Next 4 bytes = the number. Little endian, so 01 00 00 00 is 1. Total length: 5 bytes.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46120"/>
            <a:ext cx="5669280" cy="1371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33558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Start address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Starts at entry / a found function. Not at offset 0 of the file.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3246120"/>
            <a:ext cx="5669280" cy="1371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33558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Variable length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749039"/>
            <a:ext cx="53035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F2F2F2"/>
                </a:solidFill>
                <a:latin typeface="Calibri"/>
              </a:rPr>
              <a:t>x86 instructions are 1 to 15 bytes.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754879"/>
            <a:ext cx="5669280" cy="1371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4864607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Wrong offset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257799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Start one byte off and the listing becomes junk.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4754879"/>
            <a:ext cx="5669280" cy="1371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4864607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Decompiler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5257799"/>
            <a:ext cx="530352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F2F2F2"/>
                </a:solidFill>
                <a:latin typeface="Calibri"/>
              </a:rPr>
              <a:t>After the listing, tools try to rebuild C. Treat that as a helper, </a:t>
            </a:r>
            <a:r>
              <a:rPr lang="en-IN" sz="1500" dirty="0">
                <a:solidFill>
                  <a:srgbClr val="F2F2F2"/>
                </a:solidFill>
                <a:latin typeface="Calibri"/>
              </a:rPr>
              <a:t>and ask AI</a:t>
            </a:r>
            <a:endParaRPr sz="15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B0B0B0"/>
                </a:solidFill>
                <a:latin typeface="Calibri"/>
              </a:rPr>
              <a:t>Today is 32-bit </a:t>
            </a:r>
            <a:r>
              <a:rPr sz="1800" b="0">
                <a:solidFill>
                  <a:srgbClr val="B0B0B0"/>
                </a:solidFill>
                <a:latin typeface="Calibri"/>
              </a:rPr>
              <a:t>Linux ELF.</a:t>
            </a:r>
            <a:endParaRPr sz="1800" b="0" dirty="0">
              <a:solidFill>
                <a:srgbClr val="B0B0B0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57200" y="1444752"/>
            <a:ext cx="11247120" cy="65836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591056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GDB + GEF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609344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Debugger. GEF adds a clearer layout on top of GDB.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21408"/>
            <a:ext cx="11247120" cy="65836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267712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hexedit / Bless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286000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hexedit in the terminal, Bless if you want a GUI.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98064"/>
            <a:ext cx="11247120" cy="65836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944368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DIE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962656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Detect It Easy. Shows file type / packer / compiler.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474720"/>
            <a:ext cx="11247120" cy="65836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3621024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Ghidra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363931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Free. Disassembly + decompiler.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51376"/>
            <a:ext cx="11247120" cy="65836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4297680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4315968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Paid. Same idea as Ghidra.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28032"/>
            <a:ext cx="11247120" cy="65836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974336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Binary Ninja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4992624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Paid. Graph view is good if you have it.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04688"/>
            <a:ext cx="11247120" cy="65836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5650992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JADX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0" y="5669279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Android / Java. Not for today's ELF files.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Install GDB + GEF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B0B0B0"/>
                </a:solidFill>
                <a:latin typeface="Calibri"/>
              </a:rPr>
              <a:t>Debian / Ubuntu / WSL. New terminal after GEF so it loads.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49377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7CDA6A"/>
                </a:solidFill>
                <a:latin typeface="Consolas"/>
              </a:rPr>
              <a:t>sudo apt update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sudo apt install -y build-essential gcc-multilib gdb python3 hexedit bless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7CDA6A"/>
                </a:solidFill>
                <a:latin typeface="Consolas"/>
              </a:rPr>
              <a:t>bash -c "$(curl -fsSL https://gef.blah.cat/sh)"</a:t>
            </a:r>
          </a:p>
          <a:p>
            <a:pPr>
              <a:spcAft>
                <a:spcPts val="1000"/>
              </a:spcAft>
            </a:pPr>
            <a:endParaRPr sz="2000" b="1">
              <a:solidFill>
                <a:srgbClr val="7CDA6A"/>
              </a:solidFill>
              <a:latin typeface="Consolas"/>
            </a:endParaRP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B0B0B0"/>
                </a:solidFill>
                <a:latin typeface="Calibri"/>
              </a:rPr>
              <a:t>Then open a new terminal and run:   gdb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B0B0B0"/>
                </a:solidFill>
                <a:latin typeface="Calibri"/>
              </a:rPr>
              <a:t>You should see a GEF banner. Same commands as vanilla GDB.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Assemble / build the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B0B0B0"/>
                </a:solidFill>
                <a:latin typeface="Calibri"/>
              </a:rPr>
              <a:t>32-bit. If gcc complains about -m32, you missed gcc-multilib.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214884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23A"/>
                </a:solidFill>
                <a:latin typeface="Calibri"/>
              </a:rPr>
              <a:t>all of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7CDA6A"/>
                </a:solidFill>
                <a:latin typeface="Consolas"/>
              </a:rPr>
              <a:t>cd examples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7CDA6A"/>
                </a:solidFill>
                <a:latin typeface="Consolas"/>
              </a:rPr>
              <a:t>make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7CDA6A"/>
                </a:solidFill>
                <a:latin typeface="Consolas"/>
              </a:rPr>
              <a:t>file 01_mov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749039"/>
            <a:ext cx="11247120" cy="25603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388620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23A"/>
                </a:solidFill>
                <a:latin typeface="Calibri"/>
              </a:rPr>
              <a:t>one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29768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7CDA6A"/>
                </a:solidFill>
                <a:latin typeface="Consolas"/>
              </a:rPr>
              <a:t>gcc -m32 -g -no-pie -o 01_mov 01_mov.s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7CDA6A"/>
                </a:solidFill>
                <a:latin typeface="Consolas"/>
              </a:rPr>
              <a:t>gcc -m32 -g -no-pie -o 07_strings 07_strings.c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B0B0B0"/>
                </a:solidFill>
                <a:latin typeface="Calibri"/>
              </a:rPr>
              <a:t>file should say ELF 32-bit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Hex-editing strings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B0B0B0"/>
                </a:solidFill>
                <a:latin typeface="Calibri"/>
              </a:rPr>
              <a:t>Terminal: hexedit. GUI: Bless.  sudo apt install hexedit bless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223760" cy="49377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6766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23A"/>
                </a:solidFill>
                <a:latin typeface="Calibri"/>
              </a:rPr>
              <a:t>hexedit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6766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./07_strings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hexedit 07_strings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Ctrl+S     search  HELLO_FROM_RE101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Tab        hex / ASCII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type       BYE___FROM_RE101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F2         save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Ctrl+X     save and exit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bless 07_strings     GUI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0" y="1417320"/>
            <a:ext cx="3886200" cy="49377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0" y="1600200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A23A"/>
                </a:solidFill>
                <a:latin typeface="Calibri"/>
              </a:rPr>
              <a:t>program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011680"/>
            <a:ext cx="3520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CDA6A"/>
                </a:solidFill>
                <a:latin typeface="Consolas"/>
              </a:rPr>
              <a:t>07_strings.c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743200"/>
            <a:ext cx="3520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HELLO_FROM_RE101 and BYE___FROM_RE101 are both 16 characters. Same length. Longer overwrites the next bytes (including the 0).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Assembly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alibri"/>
              </a:rPr>
              <a:t>Each instruction does one small thing: move, add, compare, jump.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11680"/>
            <a:ext cx="5486400" cy="39319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23A"/>
                </a:solidFill>
                <a:latin typeface="Calibri"/>
              </a:rPr>
              <a:t>Syntax we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4320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7CDA6A"/>
                </a:solidFill>
                <a:latin typeface="Consolas"/>
              </a:rPr>
              <a:t>mov eax, 1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B0B0B0"/>
                </a:solidFill>
                <a:latin typeface="Calibri"/>
              </a:rPr>
              <a:t>destination on the left</a:t>
            </a:r>
          </a:p>
          <a:p>
            <a:pPr>
              <a:spcAft>
                <a:spcPts val="600"/>
              </a:spcAft>
            </a:pPr>
            <a:endParaRPr sz="1800" b="0">
              <a:solidFill>
                <a:srgbClr val="B0B0B0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B0B0B0"/>
                </a:solidFill>
                <a:latin typeface="Calibri"/>
              </a:rPr>
              <a:t>Our .s files use this form.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B0B0B0"/>
                </a:solidFill>
                <a:latin typeface="Calibri"/>
              </a:rPr>
              <a:t>Same encoding as in the binary.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011680"/>
            <a:ext cx="5486400" cy="39319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21945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23A"/>
                </a:solidFill>
                <a:latin typeface="Calibri"/>
              </a:rPr>
              <a:t>32-bit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4320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F2F2F2"/>
                </a:solidFill>
                <a:latin typeface="Calibri"/>
              </a:rPr>
              <a:t>EAX, EBX, ECX, EDX, ESI, EDI.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2F2F2"/>
                </a:solidFill>
                <a:latin typeface="Calibri"/>
              </a:rPr>
              <a:t>ESP = stack pointer.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2F2F2"/>
                </a:solidFill>
                <a:latin typeface="Calibri"/>
              </a:rPr>
              <a:t>EBP = frame pointer.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2F2F2"/>
                </a:solidFill>
                <a:latin typeface="Calibri"/>
              </a:rPr>
              <a:t>EIP = next instruction.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2F2F2"/>
                </a:solidFill>
                <a:latin typeface="Calibri"/>
              </a:rPr>
              <a:t>gcc -m32  for the examples.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Registers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0B0B0"/>
                </a:solidFill>
                <a:latin typeface="Calibri"/>
              </a:rPr>
              <a:t>Fast storage inside the CPU. Most work happens here.</a:t>
            </a:r>
          </a:p>
        </p:txBody>
      </p:sp>
      <p:pic>
        <p:nvPicPr>
          <p:cNvPr id="5" name="Picture 4" descr="x86_regi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71600"/>
            <a:ext cx="667512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371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13716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return value, math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9659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EBX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9659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general purpose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560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ECX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5603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loop counter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3154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EDX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31546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extra math / 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374903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ESI EDI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3749039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source / dest for copies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4343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43434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stack pointer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49377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EBP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4937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frame pointer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55321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55321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next instruction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Debugging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alibri"/>
              </a:rPr>
              <a:t>Ghidra is static. Debugging means running the program and stopping it where you care.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11247120" cy="93268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938528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Breakpoints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2057400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alibri"/>
              </a:rPr>
              <a:t>stop at main, or on a compare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880360"/>
            <a:ext cx="11247120" cy="93268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2990088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Step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3108960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alibri"/>
              </a:rPr>
              <a:t>one instruction at a 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31920"/>
            <a:ext cx="11247120" cy="93268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4041648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Inspect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4160520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alibri"/>
              </a:rPr>
              <a:t>registers, stack, pointers / strings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983479"/>
            <a:ext cx="11247120" cy="93268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5093207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Continue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5212079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alibri"/>
              </a:rPr>
              <a:t>run until the next break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GDB commands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B0B0B0"/>
                </a:solidFill>
                <a:latin typeface="Calibri"/>
              </a:rPr>
              <a:t>Practice on 01_mov first.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37160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gdb ./01_mov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148132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open binary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10312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break main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221284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breakpoint at main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83464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run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294436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start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56616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367588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disassemble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367588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show code here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29768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440740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stepi    (si)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440740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step into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02920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513892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nexti    (ni)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513892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step over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576072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587044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info registers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39" y="587044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show registers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137160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46520" y="148132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print /x $eax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148132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print eax in hex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210312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46520" y="221284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x/10i $eip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221284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next 10 instructions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283464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46520" y="294436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x/8xw $esp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75520" y="294436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stack dump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356616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46520" y="367588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x/s $eax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0" y="367588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string at eax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429768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446520" y="440740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continue    (c)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75520" y="440740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continue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502920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46520" y="513892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quit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5520" y="513892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exit gdb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GDB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1247120" cy="713232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930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307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alibri"/>
              </a:rPr>
              <a:t>cd examples &amp;&amp; make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65960"/>
            <a:ext cx="11247120" cy="713232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11226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13055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onsolas"/>
              </a:rPr>
              <a:t>gdb ./01_mov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88920"/>
            <a:ext cx="11247120" cy="713232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93522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95351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onsolas"/>
              </a:rPr>
              <a:t>break main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11880"/>
            <a:ext cx="11247120" cy="713232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75818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77647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onsolas"/>
              </a:rPr>
              <a:t>run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34840"/>
            <a:ext cx="11247120" cy="713232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458114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599431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onsolas"/>
              </a:rPr>
              <a:t>disassemble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257800"/>
            <a:ext cx="11247120" cy="713232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540410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4223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onsolas"/>
              </a:rPr>
              <a:t>si   then   info registers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mov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Like assignment in C. Source stays the same. [ ] means memory.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943600" cy="32004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23A"/>
                </a:solidFill>
                <a:latin typeface="Calibri"/>
              </a:rPr>
              <a:t>example  (01_mov)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B0B0"/>
                </a:solidFill>
                <a:latin typeface="Calibri"/>
              </a:rPr>
              <a:t>asm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5544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B0B0"/>
                </a:solidFill>
                <a:latin typeface="Calibri"/>
              </a:rPr>
              <a:t>closest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874519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mov eax,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874519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eax = 1;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4144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mov eax, ebx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441448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eax = ebx;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008376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mov eax, [ebx]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008376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eax = *ebx;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3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mov [ebx], eax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575303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*ebx = eax;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1188720"/>
            <a:ext cx="5166360" cy="32004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66560" y="1280160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23A"/>
                </a:solidFill>
                <a:latin typeface="Calibri"/>
              </a:rPr>
              <a:t>challenge  (ch_mov)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1645920"/>
            <a:ext cx="48006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Different numbers than the example.
At label check:
  eax = ?
  ecx = ?
Use gdb. Do not guess from this slide.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11292840" cy="169164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663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gdb on the challenge binary (not the example)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983480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make challenges
gdb ./ch_mov
break check
run
print /x $eax
print /x $ecx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add  sub  inc  dec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Same idea as += -= ++ --. Flags get updated. Note: inc/dec do not change CF.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943600" cy="32004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23A"/>
                </a:solidFill>
                <a:latin typeface="Calibri"/>
              </a:rPr>
              <a:t>example  (02_arith)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B0B0"/>
                </a:solidFill>
                <a:latin typeface="Calibri"/>
              </a:rPr>
              <a:t>asm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5544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B0B0"/>
                </a:solidFill>
                <a:latin typeface="Calibri"/>
              </a:rPr>
              <a:t>closest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874519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add eax,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874519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eax += 5;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4144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sub eax,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441448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eax -= 3;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008376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inc eax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008376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eax++;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3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dec eax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575303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eax--;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1188720"/>
            <a:ext cx="5166360" cy="32004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66560" y="1280160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23A"/>
                </a:solidFill>
                <a:latin typeface="Calibri"/>
              </a:rPr>
              <a:t>challenge  (ch_arith)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1645920"/>
            <a:ext cx="48006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Different sequence than the example.
At label check:
  eax = 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11292840" cy="169164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663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gdb on the challenge binary (not the example)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983480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gdb ./ch_arith
break check
run
print $eax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xor  +  zero flag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Bitwise XOR. xor reg, reg clears that register.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943600" cy="32004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23A"/>
                </a:solidFill>
                <a:latin typeface="Calibri"/>
              </a:rPr>
              <a:t>example  (03_xor)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B0B0"/>
                </a:solidFill>
                <a:latin typeface="Calibri"/>
              </a:rPr>
              <a:t>asm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5544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B0B0"/>
                </a:solidFill>
                <a:latin typeface="Calibri"/>
              </a:rPr>
              <a:t>closest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874519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xor eax, eax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874519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eax = 0;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4144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xor eax, 0x55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441448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eax ^= 0x55;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008376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xor ebx, ebx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008376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ebx = 0;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1188720"/>
            <a:ext cx="5166360" cy="32004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766560" y="1280160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23A"/>
                </a:solidFill>
                <a:latin typeface="Calibri"/>
              </a:rPr>
              <a:t>challenge  (ch_xor)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645920"/>
            <a:ext cx="48006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Different values than the example.
At label check:
  eax = ?
  is ZF set?
ZF: print ($eflags &amp; 0x40)
(non-zero means set)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572000"/>
            <a:ext cx="11292840" cy="169164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4663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gdb on the challenge binary (not the example)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983480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gdb ./ch_xor
break check
run
print /x $eax
print ($eflags &amp; 0x40)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cmp   jmp   je   jne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cmp sets flags only. je/jne look at ZF.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943600" cy="32004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23A"/>
                </a:solidFill>
                <a:latin typeface="Calibri"/>
              </a:rPr>
              <a:t>example  (04_cmp_jmp)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B0B0"/>
                </a:solidFill>
                <a:latin typeface="Calibri"/>
              </a:rPr>
              <a:t>asm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5544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B0B0"/>
                </a:solidFill>
                <a:latin typeface="Calibri"/>
              </a:rPr>
              <a:t>closest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874519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cmp eax, ebx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874519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/* ZF if equal */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4144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jmp label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441448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goto label;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008376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je  /  jz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008376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if equal goto;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3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jne / jnz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575303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if not equal goto;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1188720"/>
            <a:ext cx="5166360" cy="32004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66560" y="1280160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23A"/>
                </a:solidFill>
                <a:latin typeface="Calibri"/>
              </a:rPr>
              <a:t>challenge  (ch_jmp)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1645920"/>
            <a:ext cx="48006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Different values / branches.
At label check:
  eax = ?
  which path ran?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11292840" cy="169164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663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gdb on the challenge binary (not the example)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983480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gdb ./ch_jmp
break check
run
print $eax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push  /  pop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No direct C operator. Used for args and saved values.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943600" cy="32004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23A"/>
                </a:solidFill>
                <a:latin typeface="Calibri"/>
              </a:rPr>
              <a:t>example  (05_stack)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B0B0"/>
                </a:solidFill>
                <a:latin typeface="Calibri"/>
              </a:rPr>
              <a:t>asm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5544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B0B0"/>
                </a:solidFill>
                <a:latin typeface="Calibri"/>
              </a:rPr>
              <a:t>closest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874519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push eax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874519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/* push onto stack */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4144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pop ecx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441448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/* pop into ecx */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008376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x/2xw $esp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008376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/* dump stack */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1188720"/>
            <a:ext cx="5166360" cy="32004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766560" y="1280160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23A"/>
                </a:solidFill>
                <a:latin typeface="Calibri"/>
              </a:rPr>
              <a:t>challenge  (ch_stack)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645920"/>
            <a:ext cx="48006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Different constants than the example.
At before_pop:
  [esp] = ?
  [esp+4] = ?
At check:
  ecx = ?
  edx =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572000"/>
            <a:ext cx="11292840" cy="169164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4663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gdb on the challenge binary (not the example)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983480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gdb ./ch_stack
break before_pop
run
x/2xw $esp
break check
continue
print /x $ecx
print /x $edx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call  /  ret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call jumps to a function. Return value usually in eax.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943600" cy="32004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23A"/>
                </a:solidFill>
                <a:latin typeface="Calibri"/>
              </a:rPr>
              <a:t>example  (06_call)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B0B0"/>
                </a:solidFill>
                <a:latin typeface="Calibri"/>
              </a:rPr>
              <a:t>asm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5544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B0B0"/>
                </a:solidFill>
                <a:latin typeface="Calibri"/>
              </a:rPr>
              <a:t>closest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874519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push 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874519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/* argument */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4144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call add_one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441448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eax = add_one(41);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008376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add esp,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008376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/* cdecl cleanup */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3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ret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575303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onsolas"/>
              </a:rPr>
              <a:t>return;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1188720"/>
            <a:ext cx="5166360" cy="32004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66560" y="1280160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23A"/>
                </a:solidFill>
                <a:latin typeface="Calibri"/>
              </a:rPr>
              <a:t>challenge  (ch_call)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1645920"/>
            <a:ext cx="48006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Different function / argument.
At label check
(right after call returns):
  eax = 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11292840" cy="169164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6634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gdb on the challenge binary (not the example)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983480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onsolas"/>
              </a:rPr>
              <a:t>gdb ./ch_call
break check
run
print $eax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Ghidra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0B0B0"/>
                </a:solidFill>
                <a:latin typeface="Calibri"/>
              </a:rPr>
              <a:t>Open 08_ghidra_flow first, then the crackme.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47120" cy="86868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New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57276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File -&gt; New Project, then Import File on 08_ghidra_flow.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331720"/>
            <a:ext cx="11247120" cy="86868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53288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Analyze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53288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Say Yes to analysis. Defaults are fine.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291840"/>
            <a:ext cx="11247120" cy="86868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4930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Two 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349300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Listing = asm. Decompile = reconstructed C.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51960"/>
            <a:ext cx="11247120" cy="86868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445312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Find main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45312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Symbol Tree -&gt; Functions -&gt; main / add_one / is_ok.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12080"/>
            <a:ext cx="11247120" cy="86868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541324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Then GDB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541324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Copy the address or name and break on 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Crackme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Live. Linux binary.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6596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16712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Run it and note what it asks for.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92608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312724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strings ./crackme1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88620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408736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gdb: break main, run, find the compare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84632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504748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No patching. Explain what it checks.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Crackme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Same approach. A bit more logic.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6596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16712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run -&gt; strings -&gt; break -&gt; watch cmp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92608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312724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Expect more than one check.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88620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408736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If stuck, open it in Ghidra/IDA, find the function, break there.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84632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504748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No patching. Walk through the path.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9202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2F2F2"/>
                </a:solidFill>
                <a:latin typeface="Calibri"/>
              </a:rPr>
              <a:t>Done.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34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0B0B0"/>
                </a:solidFill>
                <a:latin typeface="Calibri"/>
              </a:rPr>
              <a:t>Rebuild the examples, step them again, then redo both crackmes without notes.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023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2F2F2"/>
                </a:solidFill>
                <a:latin typeface="Calibri"/>
              </a:rPr>
              <a:t>Ajin Deepak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480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A23A"/>
                </a:solidFill>
                <a:latin typeface="Calibri"/>
              </a:rPr>
              <a:t>AntiBot Engineer  @  NielsenIQ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2235</Words>
  <Application>Microsoft Office PowerPoint</Application>
  <PresentationFormat>Widescreen</PresentationFormat>
  <Paragraphs>377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ajin deepak</cp:lastModifiedBy>
  <cp:revision>7</cp:revision>
  <dcterms:created xsi:type="dcterms:W3CDTF">2013-01-27T09:14:16Z</dcterms:created>
  <dcterms:modified xsi:type="dcterms:W3CDTF">2026-09-12T18:07:57Z</dcterms:modified>
  <cp:category/>
</cp:coreProperties>
</file>