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2F2F2"/>
                </a:solidFill>
                <a:latin typeface="Calibri"/>
              </a:rPr>
              <a:t>Reverse Engineering 101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Presented by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2F2F2"/>
                </a:solidFill>
                <a:latin typeface="Calibri"/>
              </a:rPr>
              <a:t>Ajin Deepak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8A23A"/>
                </a:solidFill>
                <a:latin typeface="Calibri"/>
              </a:rPr>
              <a:t>AntiBot Engineer  @  NielsenIQ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1400" dirty="0">
                <a:solidFill>
                  <a:srgbClr val="B0B0B0"/>
                </a:solidFill>
                <a:latin typeface="Calibri"/>
              </a:rPr>
              <a:t>Minimal AI slop is there please bear with me.</a:t>
            </a:r>
            <a:endParaRPr sz="1400" b="0" dirty="0">
              <a:solidFill>
                <a:srgbClr val="B0B0B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we're doing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00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2F2F2"/>
                </a:solidFill>
                <a:latin typeface="Calibri"/>
              </a:rPr>
              <a:t>What RE is, why people do it, where it's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3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51175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assembly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255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Some tools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4709159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400" b="0" dirty="0">
                <a:solidFill>
                  <a:srgbClr val="F2F2F2"/>
                </a:solidFill>
                <a:latin typeface="Calibri"/>
              </a:rPr>
              <a:t>And do some </a:t>
            </a:r>
            <a:r>
              <a:rPr lang="en-IN" sz="2400" b="0" dirty="0" err="1">
                <a:solidFill>
                  <a:srgbClr val="F2F2F2"/>
                </a:solidFill>
                <a:latin typeface="Calibri"/>
              </a:rPr>
              <a:t>execercises</a:t>
            </a:r>
            <a:r>
              <a:rPr lang="en-IN" sz="2400" dirty="0">
                <a:solidFill>
                  <a:srgbClr val="F2F2F2"/>
                </a:solidFill>
                <a:latin typeface="Calibri"/>
              </a:rPr>
              <a:t>, that’s it.</a:t>
            </a:r>
            <a:endParaRPr sz="24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What is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Looking at a finished program and figuring out how it works, without the original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run it, </a:t>
            </a:r>
            <a:r>
              <a:rPr lang="en-IN" sz="2200" dirty="0">
                <a:solidFill>
                  <a:srgbClr val="F2F2F2"/>
                </a:solidFill>
                <a:latin typeface="Calibri"/>
              </a:rPr>
              <a:t> observe the behaviour</a:t>
            </a:r>
            <a:endParaRPr sz="22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291839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check strings and imports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read the assembly, or the </a:t>
            </a:r>
            <a:r>
              <a:rPr sz="2200" b="0" dirty="0" err="1">
                <a:solidFill>
                  <a:srgbClr val="F2F2F2"/>
                </a:solidFill>
                <a:latin typeface="Calibri"/>
              </a:rPr>
              <a:t>decompiler</a:t>
            </a:r>
            <a:r>
              <a:rPr sz="2200" b="0" dirty="0">
                <a:solidFill>
                  <a:srgbClr val="F2F2F2"/>
                </a:solidFill>
                <a:latin typeface="Calibri"/>
              </a:rPr>
              <a:t>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75488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-  debug it and watch the compare that decides pass/fail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Why reverse engineering?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You are lifeless, or you think you wanna be cool by cracking some crappy apps,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wanna build some skills to get employed,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it's part of your job to upskill,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or you are just interested.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892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Idk which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Where reverse engineering is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Malware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get a sample with 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malware sample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. 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analyze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it.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Appsec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You are looking at a released binary</a:t>
            </a:r>
            <a:r>
              <a:rPr lang="en-IN" sz="1800" b="0" dirty="0">
                <a:solidFill>
                  <a:srgbClr val="F2F2F2"/>
                </a:solidFill>
                <a:latin typeface="Calibri"/>
              </a:rPr>
              <a:t> like for example, an APK. And you </a:t>
            </a:r>
            <a:r>
              <a:rPr lang="en-IN" sz="1800" b="0" dirty="0" err="1">
                <a:solidFill>
                  <a:srgbClr val="F2F2F2"/>
                </a:solidFill>
                <a:latin typeface="Calibri"/>
              </a:rPr>
              <a:t>wann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find bugs.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247120" cy="14630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70916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Exploit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66360"/>
            <a:ext cx="10789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dirty="0">
                <a:solidFill>
                  <a:srgbClr val="F2F2F2"/>
                </a:solidFill>
                <a:latin typeface="Calibri"/>
              </a:rPr>
              <a:t>You </a:t>
            </a:r>
            <a:r>
              <a:rPr lang="en-IN" dirty="0" err="1">
                <a:solidFill>
                  <a:srgbClr val="F2F2F2"/>
                </a:solidFill>
                <a:latin typeface="Calibri"/>
              </a:rPr>
              <a:t>wanna</a:t>
            </a:r>
            <a:r>
              <a:rPr lang="en-IN" dirty="0">
                <a:solidFill>
                  <a:srgbClr val="F2F2F2"/>
                </a:solidFill>
                <a:latin typeface="Calibri"/>
              </a:rPr>
              <a:t> do some Vulnerability research and make exploits (Ask AI gang)</a:t>
            </a:r>
            <a:endParaRPr sz="18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Compiler, disassembler, decompiler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These are not the same 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Compiler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gcc, clang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Source -&gt; binary.
C/C++ becomes machine code + ELF headers.
This is how the file was made.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Disassembler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objdump, Ghidra listing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Bytes -&gt; assembly.
B8 01 00 00 00  -&gt;  mov eax, 1
Matches the bytes one-to-one.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1508760"/>
            <a:ext cx="3749039" cy="4800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9" y="169164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14884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7CDA6A"/>
                </a:solidFill>
                <a:latin typeface="Calibri"/>
              </a:rPr>
              <a:t>Ghidra / IDA / Binary Ninja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651760"/>
            <a:ext cx="33832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Assembly -&gt; C-like code.
if (x == 1) ...
Helpful, but it is a reconstruction. Names are usually gone.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Compile -&gt;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B0B0"/>
                </a:solidFill>
                <a:latin typeface="Calibri"/>
              </a:rPr>
              <a:t>C is for humans. The CPU runs bytes.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1 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int main() { return 1;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What you write.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215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2  Compiler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gcc -m32  -&gt;  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Builds the binary.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3  Bytes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B8 01 00 00 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Machine code in .text.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737360"/>
            <a:ext cx="2788920" cy="41605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54312" y="192024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4  CPU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4312" y="2743200"/>
            <a:ext cx="2468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7CDA6A"/>
                </a:solidFill>
                <a:latin typeface="Consolas"/>
              </a:rPr>
              <a:t>reads those bytes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429768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Decodes and runs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How a disassembler reads those bytes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 err="1">
                <a:solidFill>
                  <a:srgbClr val="B0B0B0"/>
                </a:solidFill>
                <a:latin typeface="Calibri"/>
              </a:rPr>
              <a:t>objdump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</a:t>
            </a:r>
            <a:r>
              <a:rPr sz="1800" b="0" dirty="0" err="1">
                <a:solidFill>
                  <a:srgbClr val="B0B0B0"/>
                </a:solidFill>
                <a:latin typeface="Calibri"/>
              </a:rPr>
              <a:t>Ghidra</a:t>
            </a:r>
            <a:r>
              <a:rPr sz="1800" b="0" dirty="0">
                <a:solidFill>
                  <a:srgbClr val="B0B0B0"/>
                </a:solidFill>
                <a:latin typeface="Calibri"/>
              </a:rPr>
              <a:t> / IDA / Binary Ninja all start by turning bytes into instructions.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11247120" cy="15544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DA6A"/>
                </a:solidFill>
                <a:latin typeface="Consolas"/>
              </a:rPr>
              <a:t>B8 01 00 00 00     -&gt;     mov eax,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B8 = MOV EAX, imm32. Next 4 bytes = the number. Little endian, so 01 00 00 00 is 1. Total length: 5 bytes.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Start address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Starts at entry / a found function. Not at offset 0 of the file.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246120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3558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Variable length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x86 instructions are 1 to 15 bytes.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Wrong offset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57799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Start one byte off and the listing becomes junk.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754879"/>
            <a:ext cx="5669280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864607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Decompiler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257799"/>
            <a:ext cx="53035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F2F2F2"/>
                </a:solidFill>
                <a:latin typeface="Calibri"/>
              </a:rPr>
              <a:t>After the listing, tools try to rebuild C. Treat that as a helper, </a:t>
            </a:r>
            <a:r>
              <a:rPr lang="en-IN" sz="1500" dirty="0">
                <a:solidFill>
                  <a:srgbClr val="F2F2F2"/>
                </a:solidFill>
                <a:latin typeface="Calibri"/>
              </a:rPr>
              <a:t>and ask AI</a:t>
            </a:r>
            <a:endParaRPr sz="15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Tools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9105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GDB + GEF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Debugger. GEF adds a clearer layout on top of GDB.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2140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hexedit / Bless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86000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hexedit in the terminal, Bless if you want a GUI.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98064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44368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DIE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62656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Detect It Easy. Shows file type / packer / compiler.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62102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Ghidra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639312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Free. Disassembly + decompiler.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51376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315968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Same idea as Ghidra.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28032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74336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Binary Ninja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992624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Paid. Graph view is good if you have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04688"/>
            <a:ext cx="11247120" cy="65836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650992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A23A"/>
                </a:solidFill>
                <a:latin typeface="Calibri"/>
              </a:rPr>
              <a:t>JADX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5669279"/>
            <a:ext cx="8321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Android / Java. Not for today's ELF files.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Install GDB + GEF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Debian / Ubuntu / WSL. New terminal after GEF so it loads.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7899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sudo apt update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7CDA6A"/>
                </a:solidFill>
                <a:latin typeface="Consolas"/>
              </a:rPr>
              <a:t>sudo apt install -y build-essential gcc-multilib gdb python3 hexedit bless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sudo apt install openjdk-21-jdk -y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bash -c "$(curl -fsSL https://gef.blah.cat/sh)"</a:t>
            </a:r>
          </a:p>
          <a:p>
            <a:pPr>
              <a:spcAft>
                <a:spcPts val="800"/>
              </a:spcAft>
            </a:pPr>
            <a:r>
              <a:rPr sz="800" b="0">
                <a:solidFill>
                  <a:srgbClr val="B0B0B0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openjdk-21-jdk  =  Java for Ghidra. Run that before ./ghidraRun.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Then open a new terminal and run:   gdb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You should see a GEF banner. Same commands as vanilla GDB.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Assemble / build the examples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214884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all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cd examples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make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file 01_mov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8862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one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9768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01_mov 01_mov.s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7CDA6A"/>
                </a:solidFill>
                <a:latin typeface="Consolas"/>
              </a:rPr>
              <a:t>gcc -m32 -g -no-pie -o 07_strings 07_strings.c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B0B0B0"/>
                </a:solidFill>
                <a:latin typeface="Calibri"/>
              </a:rPr>
              <a:t>file should say ELF 32-bit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Hex-editing strings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22376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hexedit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./07_strings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hexedit 07_strings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Ctrl+S     search  HELLO_FROM_RE101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Tab        hex / ASCII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type       BYE___FROM_RE101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F2         save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Ctrl+X     save and exit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7CDA6A"/>
                </a:solidFill>
                <a:latin typeface="Consolas"/>
              </a:rPr>
              <a:t>bless 07_strings     GUI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0" y="1417320"/>
            <a:ext cx="3886200" cy="49377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23A"/>
                </a:solidFill>
                <a:latin typeface="Calibri"/>
              </a:rPr>
              <a:t>program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011680"/>
            <a:ext cx="3520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CDA6A"/>
                </a:solidFill>
                <a:latin typeface="Consolas"/>
              </a:rPr>
              <a:t>07_strings.c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743200"/>
            <a:ext cx="3520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2F2"/>
                </a:solidFill>
                <a:latin typeface="Calibri"/>
              </a:rPr>
              <a:t>HELLO_FROM_RE101 and BYE___FROM_RE101 are both 16 characters. Same length. Longer overwrites the next bytes (including the 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Assembly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2471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rgbClr val="F2F2F2"/>
                </a:solidFill>
                <a:latin typeface="Calibri"/>
              </a:rPr>
              <a:t>Each instruction does one small thing</a:t>
            </a:r>
            <a:r>
              <a:rPr lang="en-IN" sz="2000" dirty="0">
                <a:solidFill>
                  <a:srgbClr val="F2F2F2"/>
                </a:solidFill>
                <a:latin typeface="Calibri"/>
              </a:rPr>
              <a:t>.</a:t>
            </a:r>
            <a:endParaRPr sz="2000" b="0" dirty="0">
              <a:solidFill>
                <a:srgbClr val="F2F2F2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Syntax we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1">
                <a:solidFill>
                  <a:srgbClr val="7CDA6A"/>
                </a:solidFill>
                <a:latin typeface="Consolas"/>
              </a:rPr>
              <a:t>mov eax, 1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destination on the left</a:t>
            </a:r>
          </a:p>
          <a:p>
            <a:pPr>
              <a:spcAft>
                <a:spcPts val="600"/>
              </a:spcAft>
            </a:pPr>
            <a:endParaRPr sz="1800" b="0">
              <a:solidFill>
                <a:srgbClr val="B0B0B0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Our .s files use this form.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B0B0B0"/>
                </a:solidFill>
                <a:latin typeface="Calibri"/>
              </a:rPr>
              <a:t>Same encoding as in the binary.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5486400" cy="393192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194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8A23A"/>
                </a:solidFill>
                <a:latin typeface="Calibri"/>
              </a:rPr>
              <a:t>32-bit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432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EAX, EBX, ECX, EDX, ESI, EDI.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ESP = stack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EBP = frame pointer.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EIP = next instruction.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F2F2F2"/>
                </a:solidFill>
                <a:latin typeface="Calibri"/>
              </a:rPr>
              <a:t>gcc -m32  for the examples.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Registers</a:t>
            </a:r>
          </a:p>
        </p:txBody>
      </p:sp>
      <p:pic>
        <p:nvPicPr>
          <p:cNvPr id="5" name="Picture 4" descr="x86_regi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6751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71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return value,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659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9659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general purpose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5603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loop counter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154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EDX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1546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extra math / 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374903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ESI EDI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74903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source / dest for copies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343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43434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stack pointer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937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frame pointer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55321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8A23A"/>
                </a:solidFill>
                <a:latin typeface="Consolas"/>
              </a:rPr>
              <a:t>EIP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553212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alibri"/>
              </a:rPr>
              <a:t>next instruction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14 / 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84124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Small storage inside the CPU. Instructions use these instead of hitting memory every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Debugging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Ghidra is static. Debugging means running the program and stopping it where you care.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93852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Breakpoints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20574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stop at main, or on a compare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99008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31089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one instruction at a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04164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41605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registers, stack, pointers / strings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83479"/>
            <a:ext cx="11247120" cy="93268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5093207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Continue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212079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run until the next break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B0B0B0"/>
                </a:solidFill>
                <a:latin typeface="Calibri"/>
              </a:rPr>
              <a:t>Practice on 01_mov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gdb ./01_mov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open binary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break 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breakpoint at main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disassemble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code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stepi   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into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nexti    (ni)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step over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57607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8704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info registers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8704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show registers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14813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print /x $eax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4813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print eax in hex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10312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21284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x/10i $eip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22128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next 10 instructions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83464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46520" y="29443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x/8xw $esp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29443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stack dump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356616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3675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x/s $eax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75520" y="36758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string at eax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429768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46520" y="440740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continue    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4074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continue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5029200"/>
            <a:ext cx="5715000" cy="585216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46520" y="513892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CDA6A"/>
                </a:solidFill>
                <a:latin typeface="Consolas"/>
              </a:rPr>
              <a:t>quit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51389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exit gdb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GDB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93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075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cd examples &amp;&amp; make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6596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1122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305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gdb ./01_mov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352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5351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break main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75818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764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8114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599431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disassemble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40410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A23A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onsolas"/>
              </a:rPr>
              <a:t>si   then   info registers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mov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Like assignment in C. Source stays the same. [ ] means memory.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(01_mov)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0x41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0x41;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ebx;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[ebp-4],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local = eax;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ecx, [ebp-4]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ecx = local;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(ch_mov)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ch_mov.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mov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mov ecx, [ebp-4]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ecx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mov eax, ecx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add  sub  inc  dec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Same idea as += -= ++ --. Flags get updated. Note: inc/dec do not change CF.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(02_arith)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10;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eax,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+= 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sub eax,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-= 3;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inc eax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eax++;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dec eax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eax--;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eax, ebx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+= ebx;   // ebx=4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(ch_arith)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ch_arith.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add eax, 7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the two inc and one dec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check, after  add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xor  +  zero flag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Bitwise XOR. xor reg, reg clears that register.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(03_xor)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0x55;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eax, 0x55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^= 0x55;   //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ebx,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0xF0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0xF0;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xor eax, 0x0F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^= 0x0F;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(ch_xor)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ch_xor.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xor eax, 0x12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xor ebx, 0xAA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ebx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ZF set?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check, after  xor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ZF set?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print ($eflags &amp; 0x40)   non-zero = 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cmp   jmp   je   jne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cmp sets flags only. je/jne look at ZF.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(04_cmp_jmp)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5;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5;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cmp eax, ebx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if (eax == ebx)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je same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goto same;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cmp ecx,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if (ecx != 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jne not_equal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goto not_equal;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(ch_jmp)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ch_jmp.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cmp eax, ebx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equal or not?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Does  je  run, or  jne?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check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which label ran: equal or not_equal?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push  /  pop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No direct C operator. Used for args and saved values.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(05_stack)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eax, 0x1111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0x1111;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mov ebx, 0x2222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ebx = 0x2222;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eax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save eax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ebx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save ebx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pop ecx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ecx = last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pop edx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edx = first 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(ch_stack)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in ch_stack.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At before_pop (both pushed, nothing popped yet)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[esp]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[esp+4]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pop ecx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ecx = 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pop edx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edx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call  /  ret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0B0B0"/>
                </a:solidFill>
                <a:latin typeface="Calibri"/>
              </a:rPr>
              <a:t>call jumps to a function. Return value usually in eax.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94360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example  (06_call)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asm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6642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0B0B0"/>
                </a:solidFill>
                <a:latin typeface="Calibri"/>
              </a:rPr>
              <a:t>closest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push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arg = 41;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6334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call add_one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633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eax = add_one(41);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55264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 esp,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255264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pop the arg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ret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return;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988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83280" y="4498848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206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CDA6A"/>
                </a:solidFill>
                <a:latin typeface="Consolas"/>
              </a:rPr>
              <a:t>add_one:  inc eax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2F2"/>
                </a:solidFill>
                <a:latin typeface="Consolas"/>
              </a:rPr>
              <a:t>return arg + 1;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1234440"/>
            <a:ext cx="5166360" cy="50292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766560" y="135331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23A"/>
                </a:solidFill>
                <a:latin typeface="Calibri"/>
              </a:rPr>
              <a:t>challenge  (ch_call)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1737360"/>
            <a:ext cx="4800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disass main and triple in ch_call.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What does triple do with [ebp+8]?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7CDA6A"/>
                </a:solidFill>
                <a:latin typeface="Consolas"/>
              </a:rPr>
              <a:t>After  call triple  returns (label check)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F2F2F2"/>
                </a:solidFill>
                <a:latin typeface="Calibri"/>
              </a:rPr>
              <a:t>  eax =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Ghidra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0B0B0"/>
                </a:solidFill>
                <a:latin typeface="Calibri"/>
              </a:rPr>
              <a:t>Open 08_ghidra_flow first, then the crackme.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New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7276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File -&gt; New Project, then Import File on 08_ghidra_flow.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53288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Analyze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Say Yes to analysis. Defaults are fine.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9184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Two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49300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Listing = asm. Decompile = reconstructed 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4531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Find main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44531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dirty="0">
                <a:solidFill>
                  <a:srgbClr val="F2F2F2"/>
                </a:solidFill>
                <a:latin typeface="Calibri"/>
              </a:rPr>
              <a:t>Symbol Tree -&gt; Functions -&gt; main / </a:t>
            </a:r>
            <a:r>
              <a:rPr sz="1800" b="0" dirty="0" err="1">
                <a:solidFill>
                  <a:srgbClr val="F2F2F2"/>
                </a:solidFill>
                <a:latin typeface="Calibri"/>
              </a:rPr>
              <a:t>add_one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 / </a:t>
            </a:r>
            <a:r>
              <a:rPr sz="1800" b="0" dirty="0" err="1">
                <a:solidFill>
                  <a:srgbClr val="F2F2F2"/>
                </a:solidFill>
                <a:latin typeface="Calibri"/>
              </a:rPr>
              <a:t>is_ok</a:t>
            </a:r>
            <a:r>
              <a:rPr sz="1800" b="0" dirty="0">
                <a:solidFill>
                  <a:srgbClr val="F2F2F2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41324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A23A"/>
                </a:solidFill>
                <a:latin typeface="Calibri"/>
              </a:rPr>
              <a:t>Then GDB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41324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Calibri"/>
              </a:rPr>
              <a:t>Copy the address or name and break on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Live. Linux binary.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it and note what it asks for.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strings ./crackme1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 err="1">
                <a:solidFill>
                  <a:srgbClr val="F2F2F2"/>
                </a:solidFill>
                <a:latin typeface="Calibri"/>
              </a:rPr>
              <a:t>gdb</a:t>
            </a:r>
            <a:r>
              <a:rPr sz="2200" b="0" dirty="0">
                <a:solidFill>
                  <a:srgbClr val="F2F2F2"/>
                </a:solidFill>
                <a:latin typeface="Calibri"/>
              </a:rPr>
              <a:t>: break main, run, find the compare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dirty="0">
                <a:solidFill>
                  <a:srgbClr val="F2F2F2"/>
                </a:solidFill>
                <a:latin typeface="Calibri"/>
              </a:rPr>
              <a:t>No patching. Explain what it checks.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2F2F2"/>
                </a:solidFill>
                <a:latin typeface="Calibri"/>
              </a:rPr>
              <a:t>Crackme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Same approach. A bit more logic.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6596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run -&gt; strings -&gt; break -&gt; watch cmp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2608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31272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Expect more than one check.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4087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If stuck, open it in Ghidra/IDA, find the function, break there.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04748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Calibri"/>
              </a:rPr>
              <a:t>No patching. Walk through the path.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2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0B0B0"/>
                </a:solidFill>
                <a:latin typeface="Calibri"/>
              </a:rPr>
              <a:t>Reverse Engineering 101   |   Ajin Deepak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601968"/>
            <a:ext cx="2194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B0B0B0"/>
                </a:solidFill>
                <a:latin typeface="Calibri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88273" y="3094842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3600" b="1" dirty="0">
                <a:solidFill>
                  <a:srgbClr val="F2F2F2"/>
                </a:solidFill>
                <a:latin typeface="Calibri"/>
              </a:rPr>
              <a:t>Any questions ? Or </a:t>
            </a:r>
            <a:r>
              <a:rPr lang="en-IN" sz="3600" b="1" dirty="0" err="1">
                <a:solidFill>
                  <a:srgbClr val="F2F2F2"/>
                </a:solidFill>
                <a:latin typeface="Calibri"/>
              </a:rPr>
              <a:t>yall</a:t>
            </a:r>
            <a:r>
              <a:rPr lang="en-IN" sz="3600" b="1" dirty="0">
                <a:solidFill>
                  <a:srgbClr val="F2F2F2"/>
                </a:solidFill>
                <a:latin typeface="Calibri"/>
              </a:rPr>
              <a:t> just wanted to get the hell out ?</a:t>
            </a:r>
            <a:endParaRPr sz="3600" b="1" dirty="0">
              <a:solidFill>
                <a:srgbClr val="F2F2F2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2189</Words>
  <Application>Microsoft Office PowerPoint</Application>
  <PresentationFormat>Widescreen</PresentationFormat>
  <Paragraphs>435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ajin deepak</cp:lastModifiedBy>
  <cp:revision>17</cp:revision>
  <dcterms:created xsi:type="dcterms:W3CDTF">2013-01-27T09:14:16Z</dcterms:created>
  <dcterms:modified xsi:type="dcterms:W3CDTF">2026-09-12T20:20:27Z</dcterms:modified>
  <cp:category/>
</cp:coreProperties>
</file>