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3" r:id="rId33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2F2F2"/>
                </a:solidFill>
                <a:latin typeface="Calibri"/>
              </a:rPr>
              <a:t>Reverse Engineering 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Presented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34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2F2"/>
                </a:solidFill>
                <a:latin typeface="Calibri"/>
              </a:rPr>
              <a:t>Ajin Deepak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A23A"/>
                </a:solidFill>
                <a:latin typeface="Calibri"/>
              </a:rPr>
              <a:t>AntiBot Engineer  @  NielsenIQ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dirty="0">
                <a:solidFill>
                  <a:srgbClr val="B0B0B0"/>
                </a:solidFill>
                <a:latin typeface="Calibri"/>
              </a:rPr>
              <a:t>Minimal AI slop is there please bear with me.</a:t>
            </a:r>
            <a:endParaRPr sz="1400" b="0" dirty="0">
              <a:solidFill>
                <a:srgbClr val="B0B0B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What we're doing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2F2F2"/>
                </a:solidFill>
                <a:latin typeface="Calibri"/>
              </a:rPr>
              <a:t>What RE is, why people do it, where it's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51175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0" dirty="0">
                <a:solidFill>
                  <a:srgbClr val="F2F2F2"/>
                </a:solidFill>
                <a:latin typeface="Calibri"/>
              </a:rPr>
              <a:t>Some assembly</a:t>
            </a:r>
            <a:endParaRPr sz="2400" b="0" dirty="0">
              <a:solidFill>
                <a:srgbClr val="F2F2F2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36576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2559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0" dirty="0">
                <a:solidFill>
                  <a:srgbClr val="F2F2F2"/>
                </a:solidFill>
                <a:latin typeface="Calibri"/>
              </a:rPr>
              <a:t>Some tools</a:t>
            </a:r>
            <a:endParaRPr sz="2400" b="0" dirty="0">
              <a:solidFill>
                <a:srgbClr val="F2F2F2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470915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0" dirty="0">
                <a:solidFill>
                  <a:srgbClr val="F2F2F2"/>
                </a:solidFill>
                <a:latin typeface="Calibri"/>
              </a:rPr>
              <a:t>And do some </a:t>
            </a:r>
            <a:r>
              <a:rPr lang="en-IN" sz="2400" b="0" dirty="0" err="1">
                <a:solidFill>
                  <a:srgbClr val="F2F2F2"/>
                </a:solidFill>
                <a:latin typeface="Calibri"/>
              </a:rPr>
              <a:t>execercises</a:t>
            </a:r>
            <a:r>
              <a:rPr lang="en-IN" sz="2400" dirty="0">
                <a:solidFill>
                  <a:srgbClr val="F2F2F2"/>
                </a:solidFill>
                <a:latin typeface="Calibri"/>
              </a:rPr>
              <a:t>, that’s it.</a:t>
            </a:r>
            <a:endParaRPr sz="2400" b="0" dirty="0">
              <a:solidFill>
                <a:srgbClr val="F2F2F2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What is reverse engineering?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2F2F2"/>
                </a:solidFill>
                <a:latin typeface="Calibri"/>
              </a:rPr>
              <a:t>Looking at a finished program and figuring out how it works, without the original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F2F2F2"/>
                </a:solidFill>
                <a:latin typeface="Calibri"/>
              </a:rPr>
              <a:t>-  run it, </a:t>
            </a:r>
            <a:r>
              <a:rPr lang="en-IN" sz="2200" dirty="0">
                <a:solidFill>
                  <a:srgbClr val="F2F2F2"/>
                </a:solidFill>
                <a:latin typeface="Calibri"/>
              </a:rPr>
              <a:t> observe the behaviour</a:t>
            </a:r>
            <a:endParaRPr sz="2200" b="0" dirty="0">
              <a:solidFill>
                <a:srgbClr val="F2F2F2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29183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F2F2F2"/>
                </a:solidFill>
                <a:latin typeface="Calibri"/>
              </a:rPr>
              <a:t>-  check strings and imports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F2F2F2"/>
                </a:solidFill>
                <a:latin typeface="Calibri"/>
              </a:rPr>
              <a:t>-  read the assembly, or the </a:t>
            </a:r>
            <a:r>
              <a:rPr sz="2200" b="0" dirty="0" err="1">
                <a:solidFill>
                  <a:srgbClr val="F2F2F2"/>
                </a:solidFill>
                <a:latin typeface="Calibri"/>
              </a:rPr>
              <a:t>decompiler</a:t>
            </a:r>
            <a:r>
              <a:rPr sz="2200" b="0" dirty="0">
                <a:solidFill>
                  <a:srgbClr val="F2F2F2"/>
                </a:solidFill>
                <a:latin typeface="Calibri"/>
              </a:rPr>
              <a:t>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F2F2F2"/>
                </a:solidFill>
                <a:latin typeface="Calibri"/>
              </a:rPr>
              <a:t>-  debug it and watch the compare that decides pass/fail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Why reverse engineering?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2F2F2"/>
                </a:solidFill>
                <a:latin typeface="Calibri"/>
              </a:rPr>
              <a:t>You are lifeless, or you think you wanna be cool by cracking some crappy apps,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2F2F2"/>
                </a:solidFill>
                <a:latin typeface="Calibri"/>
              </a:rPr>
              <a:t>or you wanna build some skills to get employed,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2F2F2"/>
                </a:solidFill>
                <a:latin typeface="Calibri"/>
              </a:rPr>
              <a:t>or it's part of your job to upskill,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2F2F2"/>
                </a:solidFill>
                <a:latin typeface="Calibri"/>
              </a:rPr>
              <a:t>or you are just interested.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892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2F2F2"/>
                </a:solidFill>
                <a:latin typeface="Calibri"/>
              </a:rPr>
              <a:t>Idk which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Where reverse engineering is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14630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Malware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F2F2F2"/>
                </a:solidFill>
                <a:latin typeface="Calibri"/>
              </a:rPr>
              <a:t>You get a sample with </a:t>
            </a:r>
            <a:r>
              <a:rPr lang="en-IN" dirty="0">
                <a:solidFill>
                  <a:srgbClr val="F2F2F2"/>
                </a:solidFill>
                <a:latin typeface="Calibri"/>
              </a:rPr>
              <a:t>malware sample</a:t>
            </a:r>
            <a:r>
              <a:rPr sz="1800" b="0" dirty="0">
                <a:solidFill>
                  <a:srgbClr val="F2F2F2"/>
                </a:solidFill>
                <a:latin typeface="Calibri"/>
              </a:rPr>
              <a:t>. </a:t>
            </a:r>
            <a:r>
              <a:rPr lang="en-IN" sz="1800" b="0" dirty="0">
                <a:solidFill>
                  <a:srgbClr val="F2F2F2"/>
                </a:solidFill>
                <a:latin typeface="Calibri"/>
              </a:rPr>
              <a:t>You </a:t>
            </a:r>
            <a:r>
              <a:rPr lang="en-IN" sz="1800" b="0" dirty="0" err="1">
                <a:solidFill>
                  <a:srgbClr val="F2F2F2"/>
                </a:solidFill>
                <a:latin typeface="Calibri"/>
              </a:rPr>
              <a:t>analyze</a:t>
            </a:r>
            <a:r>
              <a:rPr lang="en-IN" sz="1800" b="0" dirty="0">
                <a:solidFill>
                  <a:srgbClr val="F2F2F2"/>
                </a:solidFill>
                <a:latin typeface="Calibri"/>
              </a:rPr>
              <a:t> it.</a:t>
            </a:r>
            <a:endParaRPr sz="1800" b="0" dirty="0">
              <a:solidFill>
                <a:srgbClr val="F2F2F2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880360"/>
            <a:ext cx="11247120" cy="14630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Appsec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F2F2F2"/>
                </a:solidFill>
                <a:latin typeface="Calibri"/>
              </a:rPr>
              <a:t>You are looking at a released binary</a:t>
            </a:r>
            <a:r>
              <a:rPr lang="en-IN" sz="1800" b="0" dirty="0">
                <a:solidFill>
                  <a:srgbClr val="F2F2F2"/>
                </a:solidFill>
                <a:latin typeface="Calibri"/>
              </a:rPr>
              <a:t> like for example, an APK. And you </a:t>
            </a:r>
            <a:r>
              <a:rPr lang="en-IN" sz="1800" b="0" dirty="0" err="1">
                <a:solidFill>
                  <a:srgbClr val="F2F2F2"/>
                </a:solidFill>
                <a:latin typeface="Calibri"/>
              </a:rPr>
              <a:t>wann</a:t>
            </a:r>
            <a:r>
              <a:rPr lang="en-IN" dirty="0" err="1">
                <a:solidFill>
                  <a:srgbClr val="F2F2F2"/>
                </a:solidFill>
                <a:latin typeface="Calibri"/>
              </a:rPr>
              <a:t>a</a:t>
            </a:r>
            <a:r>
              <a:rPr lang="en-IN" dirty="0">
                <a:solidFill>
                  <a:srgbClr val="F2F2F2"/>
                </a:solidFill>
                <a:latin typeface="Calibri"/>
              </a:rPr>
              <a:t> find bugs.</a:t>
            </a:r>
            <a:endParaRPr sz="1800" b="0" dirty="0">
              <a:solidFill>
                <a:srgbClr val="F2F2F2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4526280"/>
            <a:ext cx="11247120" cy="14630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709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Exploit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166360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solidFill>
                  <a:srgbClr val="F2F2F2"/>
                </a:solidFill>
                <a:latin typeface="Calibri"/>
              </a:rPr>
              <a:t>You </a:t>
            </a:r>
            <a:r>
              <a:rPr lang="en-IN" dirty="0" err="1">
                <a:solidFill>
                  <a:srgbClr val="F2F2F2"/>
                </a:solidFill>
                <a:latin typeface="Calibri"/>
              </a:rPr>
              <a:t>wanna</a:t>
            </a:r>
            <a:r>
              <a:rPr lang="en-IN" dirty="0">
                <a:solidFill>
                  <a:srgbClr val="F2F2F2"/>
                </a:solidFill>
                <a:latin typeface="Calibri"/>
              </a:rPr>
              <a:t> do some Vulnerability research and make exploits (Ask AI gang)</a:t>
            </a:r>
            <a:endParaRPr sz="1800" b="0" dirty="0">
              <a:solidFill>
                <a:srgbClr val="F2F2F2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Compiler, disassembler, decompiler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0B0"/>
                </a:solidFill>
                <a:latin typeface="Calibri"/>
              </a:rPr>
              <a:t>These are not the same 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08760"/>
            <a:ext cx="3749039" cy="48006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DA6A"/>
                </a:solidFill>
                <a:latin typeface="Calibri"/>
              </a:rPr>
              <a:t>gcc, clang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2F2"/>
                </a:solidFill>
                <a:latin typeface="Calibri"/>
              </a:rPr>
              <a:t>Source -&gt; binary.
C/C++ becomes machine code + ELF headers.
This is how the file was made.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08760"/>
            <a:ext cx="3749039" cy="48006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691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Disassembler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48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DA6A"/>
                </a:solidFill>
                <a:latin typeface="Calibri"/>
              </a:rPr>
              <a:t>objdump, Ghidra listing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6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2F2"/>
                </a:solidFill>
                <a:latin typeface="Calibri"/>
              </a:rPr>
              <a:t>Bytes -&gt; assembly.
B8 01 00 00 00  -&gt;  mov eax, 1
Matches the bytes one-to-one.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508760"/>
            <a:ext cx="3749039" cy="48006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59" y="1691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Decompiler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2148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DA6A"/>
                </a:solidFill>
                <a:latin typeface="Calibri"/>
              </a:rPr>
              <a:t>Ghidra / IDA / Binary Ninja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65176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2F2"/>
                </a:solidFill>
                <a:latin typeface="Calibri"/>
              </a:rPr>
              <a:t>Assembly -&gt; C-like code.
if (x == 1) ...
Helpful, but it is a reconstruction. Names are usually gone.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Compile -&gt; bytes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B0B0"/>
                </a:solidFill>
                <a:latin typeface="Calibri"/>
              </a:rPr>
              <a:t>C is for humans. The CPU runs bytes.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37360"/>
            <a:ext cx="2788920" cy="41605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23A"/>
                </a:solidFill>
                <a:latin typeface="Calibri"/>
              </a:rPr>
              <a:t>1 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7432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CDA6A"/>
                </a:solidFill>
                <a:latin typeface="Consolas"/>
              </a:rPr>
              <a:t>int main() { return 1;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4297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2F2"/>
                </a:solidFill>
                <a:latin typeface="Calibri"/>
              </a:rPr>
              <a:t>What you write.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737360"/>
            <a:ext cx="2788920" cy="41605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02152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23A"/>
                </a:solidFill>
                <a:latin typeface="Calibri"/>
              </a:rPr>
              <a:t>2  Compiler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7432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CDA6A"/>
                </a:solidFill>
                <a:latin typeface="Consolas"/>
              </a:rPr>
              <a:t>gcc -m32  -&gt;  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4297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2F2"/>
                </a:solidFill>
                <a:latin typeface="Calibri"/>
              </a:rPr>
              <a:t>Builds the binary.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37360"/>
            <a:ext cx="2788920" cy="41605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23A"/>
                </a:solidFill>
                <a:latin typeface="Calibri"/>
              </a:rPr>
              <a:t>3  Bytes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7432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CDA6A"/>
                </a:solidFill>
                <a:latin typeface="Consolas"/>
              </a:rPr>
              <a:t>B8 01 00 00 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297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2F2"/>
                </a:solidFill>
                <a:latin typeface="Calibri"/>
              </a:rPr>
              <a:t>Machine code in .text.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737360"/>
            <a:ext cx="2788920" cy="41605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54312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23A"/>
                </a:solidFill>
                <a:latin typeface="Calibri"/>
              </a:rPr>
              <a:t>4  CPU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4312" y="27432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CDA6A"/>
                </a:solidFill>
                <a:latin typeface="Consolas"/>
              </a:rPr>
              <a:t>reads those bytes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4297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2F2"/>
                </a:solidFill>
                <a:latin typeface="Calibri"/>
              </a:rPr>
              <a:t>Decodes and runs them.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How a disassembler reads those bytes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 err="1">
                <a:solidFill>
                  <a:srgbClr val="B0B0B0"/>
                </a:solidFill>
                <a:latin typeface="Calibri"/>
              </a:rPr>
              <a:t>objdump</a:t>
            </a:r>
            <a:r>
              <a:rPr sz="1800" b="0" dirty="0">
                <a:solidFill>
                  <a:srgbClr val="B0B0B0"/>
                </a:solidFill>
                <a:latin typeface="Calibri"/>
              </a:rPr>
              <a:t> / </a:t>
            </a:r>
            <a:r>
              <a:rPr sz="1800" b="0" dirty="0" err="1">
                <a:solidFill>
                  <a:srgbClr val="B0B0B0"/>
                </a:solidFill>
                <a:latin typeface="Calibri"/>
              </a:rPr>
              <a:t>Ghidra</a:t>
            </a:r>
            <a:r>
              <a:rPr sz="1800" b="0" dirty="0">
                <a:solidFill>
                  <a:srgbClr val="B0B0B0"/>
                </a:solidFill>
                <a:latin typeface="Calibri"/>
              </a:rPr>
              <a:t> / IDA / Binary Ninja all start by turning bytes into instructions.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155448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DA6A"/>
                </a:solidFill>
                <a:latin typeface="Consolas"/>
              </a:rPr>
              <a:t>B8 01 00 00 00     -&gt;     mov eax,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2F2"/>
                </a:solidFill>
                <a:latin typeface="Calibri"/>
              </a:rPr>
              <a:t>B8 = MOV EAX, imm32. Next 4 bytes = the number. Little endian, so 01 00 00 00 is 1. Total length: 5 bytes.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5669280" cy="13716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3558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23A"/>
                </a:solidFill>
                <a:latin typeface="Calibri"/>
              </a:rPr>
              <a:t>Start address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alibri"/>
              </a:rPr>
              <a:t>Starts at entry / a found function. Not at offset 0 of the file.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246120"/>
            <a:ext cx="5669280" cy="13716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3558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23A"/>
                </a:solidFill>
                <a:latin typeface="Calibri"/>
              </a:rPr>
              <a:t>Variable length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39"/>
            <a:ext cx="5303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F2F2F2"/>
                </a:solidFill>
                <a:latin typeface="Calibri"/>
              </a:rPr>
              <a:t>x86 instructions are 1 to 15 bytes.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79"/>
            <a:ext cx="5669280" cy="13716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86460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23A"/>
                </a:solidFill>
                <a:latin typeface="Calibri"/>
              </a:rPr>
              <a:t>Wrong offset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57799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alibri"/>
              </a:rPr>
              <a:t>Start one byte off and the listing becomes junk.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754879"/>
            <a:ext cx="5669280" cy="13716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486460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23A"/>
                </a:solidFill>
                <a:latin typeface="Calibri"/>
              </a:rPr>
              <a:t>Decompiler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257799"/>
            <a:ext cx="53035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F2F2F2"/>
                </a:solidFill>
                <a:latin typeface="Calibri"/>
              </a:rPr>
              <a:t>After the listing, tools try to rebuild C. Treat that as a helper, </a:t>
            </a:r>
            <a:r>
              <a:rPr lang="en-IN" sz="1500" dirty="0">
                <a:solidFill>
                  <a:srgbClr val="F2F2F2"/>
                </a:solidFill>
                <a:latin typeface="Calibri"/>
              </a:rPr>
              <a:t>and ask AI</a:t>
            </a:r>
            <a:endParaRPr sz="1500" b="0" dirty="0">
              <a:solidFill>
                <a:srgbClr val="F2F2F2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44752"/>
            <a:ext cx="11247120" cy="6583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9105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23A"/>
                </a:solidFill>
                <a:latin typeface="Calibri"/>
              </a:rPr>
              <a:t>GDB + GEF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609344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2F2"/>
                </a:solidFill>
                <a:latin typeface="Calibri"/>
              </a:rPr>
              <a:t>Debugger. GEF adds a clearer layout on top of GDB.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21408"/>
            <a:ext cx="11247120" cy="6583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23A"/>
                </a:solidFill>
                <a:latin typeface="Calibri"/>
              </a:rPr>
              <a:t>hexedit / Bless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86000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2F2"/>
                </a:solidFill>
                <a:latin typeface="Calibri"/>
              </a:rPr>
              <a:t>hexedit in the terminal, Bless if you want a GUI.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98064"/>
            <a:ext cx="11247120" cy="6583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443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23A"/>
                </a:solidFill>
                <a:latin typeface="Calibri"/>
              </a:rPr>
              <a:t>DIE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62656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2F2"/>
                </a:solidFill>
                <a:latin typeface="Calibri"/>
              </a:rPr>
              <a:t>Detect It Easy. Shows file type / packer / compiler.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11247120" cy="6583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62102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23A"/>
                </a:solidFill>
                <a:latin typeface="Calibri"/>
              </a:rPr>
              <a:t>Ghidra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639312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2F2"/>
                </a:solidFill>
                <a:latin typeface="Calibri"/>
              </a:rPr>
              <a:t>Free. Disassembly + decompiler.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51376"/>
            <a:ext cx="11247120" cy="6583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23A"/>
                </a:solidFill>
                <a:latin typeface="Calibri"/>
              </a:rPr>
              <a:t>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3159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2F2"/>
                </a:solidFill>
                <a:latin typeface="Calibri"/>
              </a:rPr>
              <a:t>Paid. Same idea as Ghidra.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28032"/>
            <a:ext cx="11247120" cy="6583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97433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23A"/>
                </a:solidFill>
                <a:latin typeface="Calibri"/>
              </a:rPr>
              <a:t>Binary Ninja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992624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2F2"/>
                </a:solidFill>
                <a:latin typeface="Calibri"/>
              </a:rPr>
              <a:t>Paid. Graph view is good if you have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04688"/>
            <a:ext cx="11247120" cy="65836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6509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A23A"/>
                </a:solidFill>
                <a:latin typeface="Calibri"/>
              </a:rPr>
              <a:t>JADX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669279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2F2"/>
                </a:solidFill>
                <a:latin typeface="Calibri"/>
              </a:rPr>
              <a:t>Android / Java. Not for today's ELF files.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Install GDB + GEF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B0B0"/>
                </a:solidFill>
                <a:latin typeface="Calibri"/>
              </a:rPr>
              <a:t>Debian / Ubuntu / WSL. New terminal after GEF so it loads.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493776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7899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7CDA6A"/>
                </a:solidFill>
                <a:latin typeface="Consolas"/>
              </a:rPr>
              <a:t>sudo apt update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CDA6A"/>
                </a:solidFill>
                <a:latin typeface="Consolas"/>
              </a:rPr>
              <a:t>sudo apt install -y build-essential gcc-multilib gdb python3 hexedit bless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7CDA6A"/>
                </a:solidFill>
                <a:latin typeface="Consolas"/>
              </a:rPr>
              <a:t>sudo apt install openjdk-21-jdk -y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CDA6A"/>
                </a:solidFill>
                <a:latin typeface="Consolas"/>
              </a:rPr>
              <a:t>bash -c "$(curl -fsSL https://gef.blah.cat/sh)"</a:t>
            </a:r>
          </a:p>
          <a:p>
            <a:pPr>
              <a:spcAft>
                <a:spcPts val="800"/>
              </a:spcAft>
            </a:pPr>
            <a:r>
              <a:rPr sz="800" b="0">
                <a:solidFill>
                  <a:srgbClr val="B0B0B0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B0B0B0"/>
                </a:solidFill>
                <a:latin typeface="Calibri"/>
              </a:rPr>
              <a:t>openjdk-21-jdk  =  Java for Ghidra. Run that before ./ghidraRun.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B0B0B0"/>
                </a:solidFill>
                <a:latin typeface="Calibri"/>
              </a:rPr>
              <a:t>Then open a new terminal and run:   gdb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B0B0B0"/>
                </a:solidFill>
                <a:latin typeface="Calibri"/>
              </a:rPr>
              <a:t>You should see a GEF banner. Same commands as vanilla GDB.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Assemble / build the examples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21488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23A"/>
                </a:solidFill>
                <a:latin typeface="Calibri"/>
              </a:rPr>
              <a:t>all of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7CDA6A"/>
                </a:solidFill>
                <a:latin typeface="Consolas"/>
              </a:rPr>
              <a:t>cd examples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7CDA6A"/>
                </a:solidFill>
                <a:latin typeface="Consolas"/>
              </a:rPr>
              <a:t>make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7CDA6A"/>
                </a:solidFill>
                <a:latin typeface="Consolas"/>
              </a:rPr>
              <a:t>file 01_mov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11247120" cy="25603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8862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23A"/>
                </a:solidFill>
                <a:latin typeface="Calibri"/>
              </a:rPr>
              <a:t>one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7CDA6A"/>
                </a:solidFill>
                <a:latin typeface="Consolas"/>
              </a:rPr>
              <a:t>gcc -m32 -g -no-pie -o 01_mov 01_mov.s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7CDA6A"/>
                </a:solidFill>
                <a:latin typeface="Consolas"/>
              </a:rPr>
              <a:t>gcc -m32 -g -no-pie -o 07_strings 07_strings.c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B0B0B0"/>
                </a:solidFill>
                <a:latin typeface="Calibri"/>
              </a:rPr>
              <a:t>file should say ELF 32-bit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Hex-editing strings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223760" cy="493776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23A"/>
                </a:solidFill>
                <a:latin typeface="Calibri"/>
              </a:rPr>
              <a:t>hexedit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CDA6A"/>
                </a:solidFill>
                <a:latin typeface="Consolas"/>
              </a:rPr>
              <a:t>./07_strings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7CDA6A"/>
                </a:solidFill>
                <a:latin typeface="Consolas"/>
              </a:rPr>
              <a:t>hexedit 07_strings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7CDA6A"/>
                </a:solidFill>
                <a:latin typeface="Consolas"/>
              </a:rPr>
              <a:t>Ctrl+S     search  HELLO_FROM_RE101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7CDA6A"/>
                </a:solidFill>
                <a:latin typeface="Consolas"/>
              </a:rPr>
              <a:t>Tab        hex / ASCII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7CDA6A"/>
                </a:solidFill>
                <a:latin typeface="Consolas"/>
              </a:rPr>
              <a:t>type       BYE___FROM_RE101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7CDA6A"/>
                </a:solidFill>
                <a:latin typeface="Consolas"/>
              </a:rPr>
              <a:t>F2         save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7CDA6A"/>
                </a:solidFill>
                <a:latin typeface="Consolas"/>
              </a:rPr>
              <a:t>Ctrl+X     save and exit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7CDA6A"/>
                </a:solidFill>
                <a:latin typeface="Consolas"/>
              </a:rPr>
              <a:t>bless 07_strings     GUI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417320"/>
            <a:ext cx="3886200" cy="493776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60020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23A"/>
                </a:solidFill>
                <a:latin typeface="Calibri"/>
              </a:rPr>
              <a:t>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CDA6A"/>
                </a:solidFill>
                <a:latin typeface="Consolas"/>
              </a:rPr>
              <a:t>07_strings.c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743200"/>
            <a:ext cx="3520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2F2"/>
                </a:solidFill>
                <a:latin typeface="Calibri"/>
              </a:rPr>
              <a:t>HELLO_FROM_RE101 and BYE___FROM_RE101 are both 16 characters. Same length. Longer overwrites the next bytes (including the 0).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F2F2F2"/>
                </a:solidFill>
                <a:latin typeface="Calibri"/>
              </a:rPr>
              <a:t>Each instruction does one small thing</a:t>
            </a:r>
            <a:r>
              <a:rPr lang="en-IN" sz="2000" dirty="0">
                <a:solidFill>
                  <a:srgbClr val="F2F2F2"/>
                </a:solidFill>
                <a:latin typeface="Calibri"/>
              </a:rPr>
              <a:t>.</a:t>
            </a:r>
            <a:endParaRPr sz="2000" b="0" dirty="0">
              <a:solidFill>
                <a:srgbClr val="F2F2F2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5486400" cy="39319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23A"/>
                </a:solidFill>
                <a:latin typeface="Calibri"/>
              </a:rPr>
              <a:t>Syntax we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7CDA6A"/>
                </a:solidFill>
                <a:latin typeface="Consolas"/>
              </a:rPr>
              <a:t>mov eax, 1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0B0B0"/>
                </a:solidFill>
                <a:latin typeface="Calibri"/>
              </a:rPr>
              <a:t>destination on the left</a:t>
            </a:r>
          </a:p>
          <a:p>
            <a:pPr>
              <a:spcAft>
                <a:spcPts val="600"/>
              </a:spcAft>
            </a:pPr>
            <a:endParaRPr sz="1800" b="0">
              <a:solidFill>
                <a:srgbClr val="B0B0B0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0B0B0"/>
                </a:solidFill>
                <a:latin typeface="Calibri"/>
              </a:rPr>
              <a:t>Our .s files use this form.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0B0B0"/>
                </a:solidFill>
                <a:latin typeface="Calibri"/>
              </a:rPr>
              <a:t>Same encoding as in the binary.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486400" cy="39319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23A"/>
                </a:solidFill>
                <a:latin typeface="Calibri"/>
              </a:rPr>
              <a:t>32-bit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7432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2F2F2"/>
                </a:solidFill>
                <a:latin typeface="Calibri"/>
              </a:rPr>
              <a:t>EAX, EBX, ECX, EDX, ESI, EDI.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2F2F2"/>
                </a:solidFill>
                <a:latin typeface="Calibri"/>
              </a:rPr>
              <a:t>ESP = stack pointer.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2F2F2"/>
                </a:solidFill>
                <a:latin typeface="Calibri"/>
              </a:rPr>
              <a:t>EBP = frame pointer.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2F2F2"/>
                </a:solidFill>
                <a:latin typeface="Calibri"/>
              </a:rPr>
              <a:t>EIP = next instruction.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2F2F2"/>
                </a:solidFill>
                <a:latin typeface="Calibri"/>
              </a:rPr>
              <a:t>gcc -m32  for the examples.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Registers</a:t>
            </a:r>
          </a:p>
        </p:txBody>
      </p:sp>
      <p:pic>
        <p:nvPicPr>
          <p:cNvPr id="5" name="Picture 4" descr="x86_regi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67512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23A"/>
                </a:solidFill>
                <a:latin typeface="Consolas"/>
              </a:rPr>
              <a:t>EAX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371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alibri"/>
              </a:rPr>
              <a:t>return value, 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965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23A"/>
                </a:solidFill>
                <a:latin typeface="Consolas"/>
              </a:rPr>
              <a:t>EBX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alibri"/>
              </a:rPr>
              <a:t>general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60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23A"/>
                </a:solidFill>
                <a:latin typeface="Consolas"/>
              </a:rPr>
              <a:t>ECX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alibri"/>
              </a:rPr>
              <a:t>loop counter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154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23A"/>
                </a:solidFill>
                <a:latin typeface="Consolas"/>
              </a:rPr>
              <a:t>EDX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154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alibri"/>
              </a:rPr>
              <a:t>extra math / 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23A"/>
                </a:solidFill>
                <a:latin typeface="Consolas"/>
              </a:rPr>
              <a:t>ESI EDI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7490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alibri"/>
              </a:rPr>
              <a:t>source / dest for copies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343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23A"/>
                </a:solidFill>
                <a:latin typeface="Consolas"/>
              </a:rPr>
              <a:t>ESP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343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alibri"/>
              </a:rPr>
              <a:t>stack pointer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937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23A"/>
                </a:solidFill>
                <a:latin typeface="Consolas"/>
              </a:rPr>
              <a:t>EBP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937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alibri"/>
              </a:rPr>
              <a:t>frame pointer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532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23A"/>
                </a:solidFill>
                <a:latin typeface="Consolas"/>
              </a:rPr>
              <a:t>EIP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5532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alibri"/>
              </a:rPr>
              <a:t>next instruction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14 / 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0B0"/>
                </a:solidFill>
                <a:latin typeface="Calibri"/>
              </a:rPr>
              <a:t>Small storage inside the CPU. Instructions use these instead of hitting memory every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2F2F2"/>
                </a:solidFill>
                <a:latin typeface="Calibri"/>
              </a:rPr>
              <a:t>Ghidra is static. Debugging means running the program and stopping it where you care.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247120" cy="93268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Breakpoints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0574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2F2F2"/>
                </a:solidFill>
                <a:latin typeface="Calibri"/>
              </a:rPr>
              <a:t>stop at main, or on a compare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11247120" cy="93268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99008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1089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2F2F2"/>
                </a:solidFill>
                <a:latin typeface="Calibri"/>
              </a:rPr>
              <a:t>one instruction at a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11247120" cy="93268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04164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16052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2F2F2"/>
                </a:solidFill>
                <a:latin typeface="Calibri"/>
              </a:rPr>
              <a:t>registers, stack, pointers / strings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83479"/>
            <a:ext cx="11247120" cy="932688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5093207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Continue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212079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2F2F2"/>
                </a:solidFill>
                <a:latin typeface="Calibri"/>
              </a:rPr>
              <a:t>run until the next break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16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GDB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B0B0"/>
                </a:solidFill>
                <a:latin typeface="Calibri"/>
              </a:rPr>
              <a:t>Practice on 01_mov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5715000" cy="58521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DA6A"/>
                </a:solidFill>
                <a:latin typeface="Consolas"/>
              </a:rPr>
              <a:t>gdb ./01_mov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481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open binary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03120"/>
            <a:ext cx="5715000" cy="58521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DA6A"/>
                </a:solidFill>
                <a:latin typeface="Consolas"/>
              </a:rPr>
              <a:t>break 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2128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breakpoint at 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34640"/>
            <a:ext cx="5715000" cy="58521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9443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DA6A"/>
                </a:solidFill>
                <a:latin typeface="Consolas"/>
              </a:rPr>
              <a:t>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9443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start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66160"/>
            <a:ext cx="5715000" cy="58521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6758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DA6A"/>
                </a:solidFill>
                <a:latin typeface="Consolas"/>
              </a:rPr>
              <a:t>disassemble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6758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show code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97680"/>
            <a:ext cx="5715000" cy="58521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4074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DA6A"/>
                </a:solidFill>
                <a:latin typeface="Consolas"/>
              </a:rPr>
              <a:t>stepi    (si)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44074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step into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029200"/>
            <a:ext cx="5715000" cy="58521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1389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DA6A"/>
                </a:solidFill>
                <a:latin typeface="Consolas"/>
              </a:rPr>
              <a:t>nexti    (ni)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51389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step over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760720"/>
            <a:ext cx="5715000" cy="58521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870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DA6A"/>
                </a:solidFill>
                <a:latin typeface="Consolas"/>
              </a:rPr>
              <a:t>info registers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5870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show registers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371600"/>
            <a:ext cx="5715000" cy="58521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14813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DA6A"/>
                </a:solidFill>
                <a:latin typeface="Consolas"/>
              </a:rPr>
              <a:t>print /x $eax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1481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print eax in hex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103120"/>
            <a:ext cx="5715000" cy="58521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22128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DA6A"/>
                </a:solidFill>
                <a:latin typeface="Consolas"/>
              </a:rPr>
              <a:t>x/10i $eip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2128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next 10 instructions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834640"/>
            <a:ext cx="5715000" cy="58521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29443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DA6A"/>
                </a:solidFill>
                <a:latin typeface="Consolas"/>
              </a:rPr>
              <a:t>x/8xw $esp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9443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stack dump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566160"/>
            <a:ext cx="5715000" cy="58521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36758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DA6A"/>
                </a:solidFill>
                <a:latin typeface="Consolas"/>
              </a:rPr>
              <a:t>x/s $eax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36758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string at eax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297680"/>
            <a:ext cx="5715000" cy="58521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44074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DA6A"/>
                </a:solidFill>
                <a:latin typeface="Consolas"/>
              </a:rPr>
              <a:t>continue    (c)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44074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continue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029200"/>
            <a:ext cx="5715000" cy="58521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51389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DA6A"/>
                </a:solidFill>
                <a:latin typeface="Consolas"/>
              </a:rPr>
              <a:t>quit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51389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exit gdb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17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GDB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713232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930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07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2F2F2"/>
                </a:solidFill>
                <a:latin typeface="Calibri"/>
              </a:rPr>
              <a:t>cd examples &amp;&amp; make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11247120" cy="713232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122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305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2F2F2"/>
                </a:solidFill>
                <a:latin typeface="Consolas"/>
              </a:rPr>
              <a:t>gdb ./01_mov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11247120" cy="713232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9352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535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2F2F2"/>
                </a:solidFill>
                <a:latin typeface="Consolas"/>
              </a:rPr>
              <a:t>break main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11880"/>
            <a:ext cx="11247120" cy="713232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75818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764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2F2F2"/>
                </a:solidFill>
                <a:latin typeface="Consolas"/>
              </a:rPr>
              <a:t>run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34840"/>
            <a:ext cx="11247120" cy="713232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58114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99431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2F2F2"/>
                </a:solidFill>
                <a:latin typeface="Consolas"/>
              </a:rPr>
              <a:t>disassemble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57800"/>
            <a:ext cx="11247120" cy="713232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40410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4223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2F2F2"/>
                </a:solidFill>
                <a:latin typeface="Consolas"/>
              </a:rPr>
              <a:t>si   then   info registers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18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mov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Like assignment in C. Source stays the same. [ ] means memory.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943600" cy="50292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23A"/>
                </a:solidFill>
                <a:latin typeface="Calibri"/>
              </a:rPr>
              <a:t>example  (01_mov)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0B0"/>
                </a:solidFill>
                <a:latin typeface="Calibri"/>
              </a:rPr>
              <a:t>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642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0B0"/>
                </a:solidFill>
                <a:latin typeface="Calibri"/>
              </a:rPr>
              <a:t>closest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mov eax,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eax = 1;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mov ebx, 0x41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334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ebx = 0x41;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mov eax, ebx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552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eax = ebx;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770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mov [ebp-4], eax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87705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local = eax;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988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mov ecx, [ebp-4]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4988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ecx = local;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234440"/>
            <a:ext cx="5166360" cy="50292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1353312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23A"/>
                </a:solidFill>
                <a:latin typeface="Calibri"/>
              </a:rPr>
              <a:t>challenge  (ch_mov)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disass main in ch_mov.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After  mov eax, ebx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eax = ?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After  mov ecx, [ebp-4]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ecx = ?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After  mov eax, ecx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eax =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19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add  sub  inc  dec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Same idea as += -= ++ --. Flags get updated. Note: inc/dec do not change CF.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943600" cy="50292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23A"/>
                </a:solidFill>
                <a:latin typeface="Calibri"/>
              </a:rPr>
              <a:t>example  (02_arith)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0B0"/>
                </a:solidFill>
                <a:latin typeface="Calibri"/>
              </a:rPr>
              <a:t>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642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0B0"/>
                </a:solidFill>
                <a:latin typeface="Calibri"/>
              </a:rPr>
              <a:t>closest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mov eax,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eax = 10;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add eax,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334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eax += 5;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sub eax,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552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eax -= 3;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770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inc eax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87705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eax++;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988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dec eax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4988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eax--;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add eax, ebx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120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eax += ebx;   // ebx=4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234440"/>
            <a:ext cx="5166360" cy="50292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1353312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23A"/>
                </a:solidFill>
                <a:latin typeface="Calibri"/>
              </a:rPr>
              <a:t>challenge  (ch_arith)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disass main in ch_arith.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After  add eax, 7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eax = ?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After the two inc and one dec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eax = ?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At check, after  add eax, ebx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eax = 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20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xor  +  zero flag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Bitwise XOR. xor reg, reg clears that register.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943600" cy="50292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23A"/>
                </a:solidFill>
                <a:latin typeface="Calibri"/>
              </a:rPr>
              <a:t>example  (03_xor)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0B0"/>
                </a:solidFill>
                <a:latin typeface="Calibri"/>
              </a:rPr>
              <a:t>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642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0B0"/>
                </a:solidFill>
                <a:latin typeface="Calibri"/>
              </a:rPr>
              <a:t>closest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mov eax, 0x55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eax = 0x55;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xor eax, 0x55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334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eax ^= 0x55;   //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xor ebx, ebx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552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ebx = 0;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770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mov eax, 0xF0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87705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eax = 0xF0;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988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xor eax, 0x0F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4988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eax ^= 0x0F;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234440"/>
            <a:ext cx="5166360" cy="50292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1353312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23A"/>
                </a:solidFill>
                <a:latin typeface="Calibri"/>
              </a:rPr>
              <a:t>challenge  (ch_xor)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disass main in ch_xor.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After  xor eax, 0x12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eax = ?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After  xor ebx, 0xAA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ebx = ?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ZF set?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At check, after  xor eax, ebx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eax = ?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ZF set?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print ($eflags &amp; 0x40)   non-zero = 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21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cmp   jmp   je   jne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cmp sets flags only. je/jne look at ZF.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943600" cy="50292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23A"/>
                </a:solidFill>
                <a:latin typeface="Calibri"/>
              </a:rPr>
              <a:t>example  (04_cmp_jmp)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0B0"/>
                </a:solidFill>
                <a:latin typeface="Calibri"/>
              </a:rPr>
              <a:t>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642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0B0"/>
                </a:solidFill>
                <a:latin typeface="Calibri"/>
              </a:rPr>
              <a:t>closest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mov eax,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eax = 5;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mov ebx,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334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ebx = 5;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cmp eax, ebx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552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if (eax == ebx)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770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je same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87705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goto same;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988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cmp ecx,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4988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if (ecx != 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jne not_equal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120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goto not_equal;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234440"/>
            <a:ext cx="5166360" cy="50292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1353312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23A"/>
                </a:solidFill>
                <a:latin typeface="Calibri"/>
              </a:rPr>
              <a:t>challenge  (ch_jmp)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disass main in ch_jmp.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After  cmp eax, ebx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equal or not?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Does  je  run, or  jne?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At check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eax = ?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which label ran: equal or not_equal?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22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push  /  pop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No direct C operator. Used for args and saved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943600" cy="50292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23A"/>
                </a:solidFill>
                <a:latin typeface="Calibri"/>
              </a:rPr>
              <a:t>example  (05_stack)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0B0"/>
                </a:solidFill>
                <a:latin typeface="Calibri"/>
              </a:rPr>
              <a:t>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642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0B0"/>
                </a:solidFill>
                <a:latin typeface="Calibri"/>
              </a:rPr>
              <a:t>closest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mov eax, 0x1111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eax = 0x1111;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mov ebx, 0x2222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334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ebx = 0x2222;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push eax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552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save eax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770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push ebx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87705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save ebx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988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pop ecx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4988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ecx = last push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pop edx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120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edx = first push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234440"/>
            <a:ext cx="5166360" cy="50292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1353312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23A"/>
                </a:solidFill>
                <a:latin typeface="Calibri"/>
              </a:rPr>
              <a:t>challenge  (ch_stack)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disass main in ch_stack.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At before_pop (both pushed, nothing popped yet)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[esp] = ?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[esp+4] = ?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After  pop ecx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ecx = ?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After  pop edx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edx = 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23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call  /  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Calibri"/>
              </a:rPr>
              <a:t>call jumps to a function. Return value usually in eax.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943600" cy="50292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23A"/>
                </a:solidFill>
                <a:latin typeface="Calibri"/>
              </a:rPr>
              <a:t>example  (06_call)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0B0"/>
                </a:solidFill>
                <a:latin typeface="Calibri"/>
              </a:rPr>
              <a:t>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642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B0B0"/>
                </a:solidFill>
                <a:latin typeface="Calibri"/>
              </a:rPr>
              <a:t>closest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push 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arg = 41;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call add_one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334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eax = add_one(41);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add esp,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552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pop the arg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770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ret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87705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return;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988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0" y="44988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DA6A"/>
                </a:solidFill>
                <a:latin typeface="Consolas"/>
              </a:rPr>
              <a:t>add_one:  inc eax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120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  <a:latin typeface="Consolas"/>
              </a:rPr>
              <a:t>return arg + 1;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234440"/>
            <a:ext cx="5166360" cy="50292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1353312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23A"/>
                </a:solidFill>
                <a:latin typeface="Calibri"/>
              </a:rPr>
              <a:t>challenge  (ch_call)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disass main and triple in ch_call.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What does triple do with [ebp+8]?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7CDA6A"/>
                </a:solidFill>
                <a:latin typeface="Consolas"/>
              </a:rPr>
              <a:t>After  call triple  returns (label check)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2F2F2"/>
                </a:solidFill>
                <a:latin typeface="Calibri"/>
              </a:rPr>
              <a:t>  eax = 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24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Ghidra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0B0"/>
                </a:solidFill>
                <a:latin typeface="Calibri"/>
              </a:rPr>
              <a:t>Open 08_ghidra_flow first, then the crackme.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86868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23A"/>
                </a:solidFill>
                <a:latin typeface="Calibri"/>
              </a:rPr>
              <a:t>New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727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2F2"/>
                </a:solidFill>
                <a:latin typeface="Calibri"/>
              </a:rPr>
              <a:t>File -&gt; New Project, then Import File on 08_ghidra_flow.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11247120" cy="86868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53288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23A"/>
                </a:solidFill>
                <a:latin typeface="Calibri"/>
              </a:rPr>
              <a:t>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3288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2F2"/>
                </a:solidFill>
                <a:latin typeface="Calibri"/>
              </a:rPr>
              <a:t>Say Yes to analysis. Defaults are fine.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47120" cy="86868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4930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23A"/>
                </a:solidFill>
                <a:latin typeface="Calibri"/>
              </a:rPr>
              <a:t>Two 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49300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2F2"/>
                </a:solidFill>
                <a:latin typeface="Calibri"/>
              </a:rPr>
              <a:t>Listing = asm. Decompile = reconstructed 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51960"/>
            <a:ext cx="11247120" cy="86868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4531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23A"/>
                </a:solidFill>
                <a:latin typeface="Calibri"/>
              </a:rPr>
              <a:t>Find 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4531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F2F2F2"/>
                </a:solidFill>
                <a:latin typeface="Calibri"/>
              </a:rPr>
              <a:t>Symbol Tree -&gt; Functions -&gt; main / </a:t>
            </a:r>
            <a:r>
              <a:rPr sz="1800" b="0" dirty="0" err="1">
                <a:solidFill>
                  <a:srgbClr val="F2F2F2"/>
                </a:solidFill>
                <a:latin typeface="Calibri"/>
              </a:rPr>
              <a:t>add_one</a:t>
            </a:r>
            <a:r>
              <a:rPr sz="1800" b="0" dirty="0">
                <a:solidFill>
                  <a:srgbClr val="F2F2F2"/>
                </a:solidFill>
                <a:latin typeface="Calibri"/>
              </a:rPr>
              <a:t> / </a:t>
            </a:r>
            <a:r>
              <a:rPr sz="1800" b="0" dirty="0" err="1">
                <a:solidFill>
                  <a:srgbClr val="F2F2F2"/>
                </a:solidFill>
                <a:latin typeface="Calibri"/>
              </a:rPr>
              <a:t>is_ok</a:t>
            </a:r>
            <a:r>
              <a:rPr sz="1800" b="0" dirty="0">
                <a:solidFill>
                  <a:srgbClr val="F2F2F2"/>
                </a:solidFill>
                <a:latin typeface="Calibri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11247120" cy="86868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4132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23A"/>
                </a:solidFill>
                <a:latin typeface="Calibri"/>
              </a:rPr>
              <a:t>Then GDB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41324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2F2"/>
                </a:solidFill>
                <a:latin typeface="Calibri"/>
              </a:rPr>
              <a:t>Copy the address or name and break on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25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Crackme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2F2F2"/>
                </a:solidFill>
                <a:latin typeface="Calibri"/>
              </a:rPr>
              <a:t>Live. Linux binary.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11247120" cy="82296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2F2F2"/>
                </a:solidFill>
                <a:latin typeface="Calibri"/>
              </a:rPr>
              <a:t>Run it and note what it asks for.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11247120" cy="82296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1272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2F2F2"/>
                </a:solidFill>
                <a:latin typeface="Calibri"/>
              </a:rPr>
              <a:t>strings ./crackme1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86200"/>
            <a:ext cx="11247120" cy="82296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08736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 err="1">
                <a:solidFill>
                  <a:srgbClr val="F2F2F2"/>
                </a:solidFill>
                <a:latin typeface="Calibri"/>
              </a:rPr>
              <a:t>gdb</a:t>
            </a:r>
            <a:r>
              <a:rPr sz="2200" b="0" dirty="0">
                <a:solidFill>
                  <a:srgbClr val="F2F2F2"/>
                </a:solidFill>
                <a:latin typeface="Calibri"/>
              </a:rPr>
              <a:t>: break main, run, find the compare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46320"/>
            <a:ext cx="11247120" cy="82296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04748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F2F2F2"/>
                </a:solidFill>
                <a:latin typeface="Calibri"/>
              </a:rPr>
              <a:t>No patching. Explain what it checks.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26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Crackme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2F2F2"/>
                </a:solidFill>
                <a:latin typeface="Calibri"/>
              </a:rPr>
              <a:t>Same approach. A bit more logic.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11247120" cy="82296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2F2F2"/>
                </a:solidFill>
                <a:latin typeface="Calibri"/>
              </a:rPr>
              <a:t>run -&gt; strings -&gt; break -&gt; watch cmp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11247120" cy="82296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1272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2F2F2"/>
                </a:solidFill>
                <a:latin typeface="Calibri"/>
              </a:rPr>
              <a:t>Expect more than one check.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86200"/>
            <a:ext cx="11247120" cy="82296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08736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2F2F2"/>
                </a:solidFill>
                <a:latin typeface="Calibri"/>
              </a:rPr>
              <a:t>If stuck, open it in Ghidra/IDA, find the function, break there.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46320"/>
            <a:ext cx="11247120" cy="82296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04748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2F2F2"/>
                </a:solidFill>
                <a:latin typeface="Calibri"/>
              </a:rPr>
              <a:t>No patching. Walk through the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27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8273" y="3094842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600" b="1" dirty="0">
                <a:solidFill>
                  <a:srgbClr val="F2F2F2"/>
                </a:solidFill>
                <a:latin typeface="Calibri"/>
              </a:rPr>
              <a:t>Any questions ? Or </a:t>
            </a:r>
            <a:r>
              <a:rPr lang="en-IN" sz="3600" b="1" dirty="0" err="1">
                <a:solidFill>
                  <a:srgbClr val="F2F2F2"/>
                </a:solidFill>
                <a:latin typeface="Calibri"/>
              </a:rPr>
              <a:t>yall</a:t>
            </a:r>
            <a:r>
              <a:rPr lang="en-IN" sz="3600" b="1" dirty="0">
                <a:solidFill>
                  <a:srgbClr val="F2F2F2"/>
                </a:solidFill>
                <a:latin typeface="Calibri"/>
              </a:rPr>
              <a:t> just wanted to get the hell out ?</a:t>
            </a:r>
            <a:endParaRPr sz="3600" b="1" dirty="0">
              <a:solidFill>
                <a:srgbClr val="F2F2F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2F2"/>
                </a:solidFill>
                <a:latin typeface="Calibri"/>
              </a:rPr>
              <a:t>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0B0"/>
                </a:solidFill>
                <a:latin typeface="Calibri"/>
              </a:rPr>
              <a:t>Bits in EFLAGS. Math and cmp write them. je / jne read them. Not a general-purpose register.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86868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0992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onsolas"/>
              </a:rPr>
              <a:t>ZF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7099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2F2"/>
                </a:solidFill>
                <a:latin typeface="Calibri"/>
              </a:rPr>
              <a:t>zero flag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673351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2F2"/>
                </a:solidFill>
                <a:latin typeface="Calibri"/>
              </a:rPr>
              <a:t>Result was 0. xor eax, eax sets this. je / jz jump if ZF=1.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11247120" cy="86868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70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onsolas"/>
              </a:rPr>
              <a:t>CF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6700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2F2"/>
                </a:solidFill>
                <a:latin typeface="Calibri"/>
              </a:rPr>
              <a:t>carry flag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633472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2F2"/>
                </a:solidFill>
                <a:latin typeface="Calibri"/>
              </a:rPr>
              <a:t>Unsigned carry / borrow from add / sub. inc / dec do not change CF.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11247120" cy="86868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3016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onsolas"/>
              </a:rPr>
              <a:t>SF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30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2F2"/>
                </a:solidFill>
                <a:latin typeface="Calibri"/>
              </a:rPr>
              <a:t>sign flag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593592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2F2"/>
                </a:solidFill>
                <a:latin typeface="Calibri"/>
              </a:rPr>
              <a:t>Top bit of the result. 1 means negative if you treat it as signed.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11247120" cy="86868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028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23A"/>
                </a:solidFill>
                <a:latin typeface="Consolas"/>
              </a:rPr>
              <a:t>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5902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2F2"/>
                </a:solidFill>
                <a:latin typeface="Calibri"/>
              </a:rPr>
              <a:t>overflow flag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553712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2F2"/>
                </a:solidFill>
                <a:latin typeface="Calibri"/>
              </a:rPr>
              <a:t>Signed overflow. The result does not fit in a signed value of that size.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CDA6A"/>
                </a:solidFill>
                <a:latin typeface="Consolas"/>
              </a:rPr>
              <a:t>gdb:  info registers eflags     print ($eflags &amp; 0x40)   non-zero means ZF is 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B0"/>
                </a:solidFill>
                <a:latin typeface="Calibri"/>
              </a:rPr>
              <a:t>Reverse Engineering 101   |   Ajin Deepak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6019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B0"/>
                </a:solidFill>
                <a:latin typeface="Calibri"/>
              </a:rPr>
              <a:t>15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2189</Words>
  <Application>Microsoft Office PowerPoint</Application>
  <PresentationFormat>Widescreen</PresentationFormat>
  <Paragraphs>435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ajin deepak</cp:lastModifiedBy>
  <cp:revision>17</cp:revision>
  <dcterms:created xsi:type="dcterms:W3CDTF">2013-01-27T09:14:16Z</dcterms:created>
  <dcterms:modified xsi:type="dcterms:W3CDTF">2026-09-12T20:20:27Z</dcterms:modified>
  <cp:category/>
</cp:coreProperties>
</file>